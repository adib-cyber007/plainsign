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017a7285034c80" /><Relationship Type="http://schemas.openxmlformats.org/officeDocument/2006/relationships/extended-properties" Target="/docProps/app.xml" Id="Rd1ce3837f0b9459c" /><Relationship Type="http://schemas.openxmlformats.org/officeDocument/2006/relationships/officeDocument" Target="/ppt/presentation.xml" Id="R73ba7d3a9eb2454f" /></Relationships>
</file>

<file path=ppt/presentation.xml><?xml version="1.0" encoding="utf-8"?>
<p:presentation xmlns:p="http://schemas.openxmlformats.org/presentationml/2006/main">
  <p:sldMasterIdLst>
    <p:sldMasterId xmlns:r="http://schemas.openxmlformats.org/officeDocument/2006/relationships" id="2147483648" r:id="Rd941c697b8d7457e"/>
  </p:sldMasterIdLst>
  <p:notesMasterIdLst>
    <p:notesMasterId xmlns:r="http://schemas.openxmlformats.org/officeDocument/2006/relationships" r:id="Rb90030c201064815"/>
  </p:notesMasterIdLst>
  <p:sldIdLst>
    <p:sldId xmlns:r="http://schemas.openxmlformats.org/officeDocument/2006/relationships" id="256" r:id="R82f025c808864f5d"/>
    <p:sldId xmlns:r="http://schemas.openxmlformats.org/officeDocument/2006/relationships" id="257" r:id="R3f789915f6d94c73"/>
    <p:sldId xmlns:r="http://schemas.openxmlformats.org/officeDocument/2006/relationships" id="258" r:id="R33744ca18cad4d60"/>
    <p:sldId xmlns:r="http://schemas.openxmlformats.org/officeDocument/2006/relationships" id="259" r:id="R68650d0946554442"/>
    <p:sldId xmlns:r="http://schemas.openxmlformats.org/officeDocument/2006/relationships" id="260" r:id="Re125e4c26adc4bf8"/>
    <p:sldId xmlns:r="http://schemas.openxmlformats.org/officeDocument/2006/relationships" id="261" r:id="R71cc123a223f424e"/>
    <p:sldId xmlns:r="http://schemas.openxmlformats.org/officeDocument/2006/relationships" id="262" r:id="R2b20122a831041e0"/>
    <p:sldId xmlns:r="http://schemas.openxmlformats.org/officeDocument/2006/relationships" id="263" r:id="Re628409edf7e49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e92da0209d4d88" /><Relationship Type="http://schemas.openxmlformats.org/officeDocument/2006/relationships/slideMaster" Target="/ppt/slideMasters/slideMaster1.xml" Id="Rd941c697b8d7457e" /><Relationship Type="http://schemas.openxmlformats.org/officeDocument/2006/relationships/notesMaster" Target="/ppt/notesMasters/notesMaster1.xml" Id="Rb90030c201064815" /><Relationship Type="http://schemas.openxmlformats.org/officeDocument/2006/relationships/presProps" Target="/ppt/presProps.xml" Id="R5e0eda578aa14516" /><Relationship Type="http://schemas.openxmlformats.org/officeDocument/2006/relationships/tableStyles" Target="/ppt/tableStyles.xml" Id="R432dd6d4f9764984" /><Relationship Type="http://schemas.openxmlformats.org/officeDocument/2006/relationships/slide" Target="/ppt/slides/slide1.xml" Id="R82f025c808864f5d" /><Relationship Type="http://schemas.openxmlformats.org/officeDocument/2006/relationships/slide" Target="/ppt/slides/slide2.xml" Id="R3f789915f6d94c73" /><Relationship Type="http://schemas.openxmlformats.org/officeDocument/2006/relationships/slide" Target="/ppt/slides/slide3.xml" Id="R33744ca18cad4d60" /><Relationship Type="http://schemas.openxmlformats.org/officeDocument/2006/relationships/slide" Target="/ppt/slides/slide4.xml" Id="R68650d0946554442" /><Relationship Type="http://schemas.openxmlformats.org/officeDocument/2006/relationships/slide" Target="/ppt/slides/slide5.xml" Id="Re125e4c26adc4bf8" /><Relationship Type="http://schemas.openxmlformats.org/officeDocument/2006/relationships/slide" Target="/ppt/slides/slide6.xml" Id="R71cc123a223f424e" /><Relationship Type="http://schemas.openxmlformats.org/officeDocument/2006/relationships/slide" Target="/ppt/slides/slide7.xml" Id="R2b20122a831041e0" /><Relationship Type="http://schemas.openxmlformats.org/officeDocument/2006/relationships/slide" Target="/ppt/slides/slide8.xml" Id="Re628409edf7e49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9f3fe364654f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e1e8d7a27f42e0" /><Relationship Type="http://schemas.openxmlformats.org/officeDocument/2006/relationships/notesMaster" Target="/ppt/notesMasters/notesMaster1.xml" Id="R6b2e2fe75a2b43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915ac456374b21" /><Relationship Type="http://schemas.openxmlformats.org/officeDocument/2006/relationships/notesMaster" Target="/ppt/notesMasters/notesMaster1.xml" Id="R29387670c5c244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aba9f2059846d2" /><Relationship Type="http://schemas.openxmlformats.org/officeDocument/2006/relationships/notesMaster" Target="/ppt/notesMasters/notesMaster1.xml" Id="R673127c006ca42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595d68fce043ba" /><Relationship Type="http://schemas.openxmlformats.org/officeDocument/2006/relationships/notesMaster" Target="/ppt/notesMasters/notesMaster1.xml" Id="R1dd1b3fe1d3549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b71df835f049b3" /><Relationship Type="http://schemas.openxmlformats.org/officeDocument/2006/relationships/notesMaster" Target="/ppt/notesMasters/notesMaster1.xml" Id="R17efd4cd649541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1a51575fe44340" /><Relationship Type="http://schemas.openxmlformats.org/officeDocument/2006/relationships/notesMaster" Target="/ppt/notesMasters/notesMaster1.xml" Id="Re1f77d5f85214c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a518aa3c3541c9" /><Relationship Type="http://schemas.openxmlformats.org/officeDocument/2006/relationships/notesMaster" Target="/ppt/notesMasters/notesMaster1.xml" Id="Rd7d6b628002d4e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8b4a45ad1f4528" /><Relationship Type="http://schemas.openxmlformats.org/officeDocument/2006/relationships/notesMaster" Target="/ppt/notesMasters/notesMaster1.xml" Id="R5feadc7573084b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says, Free Mint. But the request underneath can give someone permission to move every NFT in a collection. I'm Mohamed Adib, a student at Sri Venkateswara College of Engineering. This is PlainSign: a way to understand that permission before approving it.</a:t>
            </a:r>
          </a:p>
          <a:p xmlns:a="http://schemas.openxmlformats.org/drawingml/2006/main">
            <a:r>
              <a:t/>
            </a:r>
          </a:p>
          <a:p xmlns:a="http://schemas.openxmlformats.org/drawingml/2006/main">
            <a:r>
              <a:t>Sources: https://github.com/adib-cyber007/plainsign; docs/PRE_EXISTING_WORK.md; docs/VERIFICATION.md.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permission in this test example. PlainSign pauses the request and shows the address that would get access. It explains why that permission is dangerous. If I choose Reject, it returns the wallet's standard rejection error. The request never reaches the wallet. The Continue button forwards the original request unchanged. The separate demo shows that interception working.</a:t>
            </a:r>
          </a:p>
          <a:p xmlns:a="http://schemas.openxmlformats.org/drawingml/2006/main">
            <a:r>
              <a:t/>
            </a:r>
          </a:p>
          <a:p xmlns:a="http://schemas.openxmlformats.org/drawingml/2006/main">
            <a:r>
              <a:t>Sources: https://github.com/adib-cyber007/plainsign; docs/PRE_EXISTING_WORK.md; docs/VERIFICATION.md. Product card captured from the actual sample walkthrough, with simulated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signature with no gas fee still deserves attention. This Permit2 example grants an unlimited token permission for a long time. A normal sign-in message has a different meaning. PlainSign decodes both and shows the difference. Green means no major warning signs were found under the rules; it is not a guarantee of safety.</a:t>
            </a:r>
          </a:p>
          <a:p xmlns:a="http://schemas.openxmlformats.org/drawingml/2006/main">
            <a:r>
              <a:t/>
            </a:r>
          </a:p>
          <a:p xmlns:a="http://schemas.openxmlformats.org/drawingml/2006/main">
            <a:r>
              <a:t>Sources: https://github.com/adib-cyber007/plainsign; docs/PRE_EXISTING_WORK.md; docs/VERIFICATION.md. Two actual sample cards. Safe describes the request under current rules, not the trustworthiness of the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comes from open rules. We decode the transaction or signature, add public chain information, and explain the rules that fired. This public version does not use AI to write the explanation. It has no backend account or telemetry. These are inspectable heuristics, and provider interception is best effort.</a:t>
            </a:r>
          </a:p>
          <a:p xmlns:a="http://schemas.openxmlformats.org/drawingml/2006/main">
            <a:r>
              <a:t/>
            </a:r>
          </a:p>
          <a:p xmlns:a="http://schemas.openxmlformats.org/drawingml/2006/main">
            <a:r>
              <a:t>Sources: https://github.com/adib-cyber007/plainsign; docs/PRE_EXISTING_WORK.md; docs/VERIFICATION.md.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September prototype came before this competition, and that history is disclosed. The October work adds public contract data from the main Ethereum network. It keeps warnings about known malicious addresses visible during an RPC outage. It also gives judges a walkthrough they can try without a wallet. The walkthrough uses simulated metadata. Mainnet validation uses public reads, not real asset transactions.</a:t>
            </a:r>
          </a:p>
          <a:p xmlns:a="http://schemas.openxmlformats.org/drawingml/2006/main">
            <a:r>
              <a:t/>
            </a:r>
          </a:p>
          <a:p xmlns:a="http://schemas.openxmlformats.org/drawingml/2006/main">
            <a:r>
              <a:t>Sources: https://github.com/adib-cyber007/plainsign; docs/PRE_EXISTING_WORK.md; docs/VERIFICATION.md.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individuals, the extension and rules stay free and open source. The proposed business is a software package that wallets and apps can add to their products. It would include maintained rules, policy controls, and support. I still need to test demand and pricing. I am not claiming customers or revenue today.</a:t>
            </a:r>
          </a:p>
          <a:p xmlns:a="http://schemas.openxmlformats.org/drawingml/2006/main">
            <a:r>
              <a:t/>
            </a:r>
          </a:p>
          <a:p xmlns:a="http://schemas.openxmlformats.org/drawingml/2006/main">
            <a:r>
              <a:t>Sources: https://github.com/adib-cyber007/plainsign; docs/PRE_EXISTING_WORK.md; docs/VERIFICATION.md.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test is simple: watch five people use the demo. Can they explain the permission before deciding? Where do warnings confuse them? How long does the decision take? Then I want to find two wallet or app teams for a small integration pilot. Those are planned experiments, not current traction.</a:t>
            </a:r>
          </a:p>
          <a:p xmlns:a="http://schemas.openxmlformats.org/drawingml/2006/main">
            <a:r>
              <a:t/>
            </a:r>
          </a:p>
          <a:p xmlns:a="http://schemas.openxmlformats.org/drawingml/2006/main">
            <a:r>
              <a:t>Sources: https://github.com/adib-cyber007/plainsign; docs/PRE_EXISTING_WORK.md; docs/VERIFICATION.md.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to help people make a clear decision at the moment it matters. You can try the sample requests without installing a wallet, and inspect the code and rules in the repository. My next milestones are independent security review and observed user tests. PlainSign helps people understand the permission, then decide.</a:t>
            </a:r>
          </a:p>
          <a:p xmlns:a="http://schemas.openxmlformats.org/drawingml/2006/main">
            <a:r>
              <a:t/>
            </a:r>
          </a:p>
          <a:p xmlns:a="http://schemas.openxmlformats.org/drawingml/2006/main">
            <a:r>
              <a:t>Sources: https://github.com/adib-cyber007/plainsign; docs/PRE_EXISTING_WORK.md; docs/VERIFICATION.md.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db7c5684e845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be5c17c32940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75cd3fb38f46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9bff3a76b44d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344c4d277c48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a7f3ee501a45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F70FDA-F1E5-4CA9-B117-E6866F7EDE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802A43-C24D-4535-B189-772D009EAA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81AFCD-3EAB-45DD-94B6-2B615E61AB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80B835-C68A-469F-A178-50BB6D41A3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BDA46F-1E13-4705-BCE2-C911646111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2F6F30-8D23-4A03-BDD5-CF53A812BA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D1C652-853E-4B48-AC13-5823AF7C49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F171B2B-63FA-47DD-ACBB-D4EA8B79A4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8D3FE3-BFE9-4219-B3EA-951C299963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C0F27E-1974-4D9E-BE28-91AFB165A9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a7d73f638c46bf" /><Relationship Type="http://schemas.openxmlformats.org/officeDocument/2006/relationships/slideLayout" Target="/ppt/slideLayouts/slideLayout1.xml" Id="R3b15cbc0a2bf46a3" /><Relationship Type="http://schemas.openxmlformats.org/officeDocument/2006/relationships/slideLayout" Target="/ppt/slideLayouts/slideLayout2.xml" Id="Rc20bfc1c322c4b2e" /><Relationship Type="http://schemas.openxmlformats.org/officeDocument/2006/relationships/slideLayout" Target="/ppt/slideLayouts/slideLayout3.xml" Id="Rcb6ddd6f9477462e" /><Relationship Type="http://schemas.openxmlformats.org/officeDocument/2006/relationships/slideLayout" Target="/ppt/slideLayouts/slideLayout4.xml" Id="Rfb55583fd87e4ac5" /><Relationship Type="http://schemas.openxmlformats.org/officeDocument/2006/relationships/slideLayout" Target="/ppt/slideLayouts/slideLayout5.xml" Id="R8e99440cd1334f61" /><Relationship Type="http://schemas.openxmlformats.org/officeDocument/2006/relationships/slideLayout" Target="/ppt/slideLayouts/slideLayout6.xml" Id="Rd2fded25fa7e40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15cbc0a2bf46a3"/>
    <p:sldLayoutId xmlns:r="http://schemas.openxmlformats.org/officeDocument/2006/relationships" id="2147483650" r:id="Rc20bfc1c322c4b2e"/>
    <p:sldLayoutId xmlns:r="http://schemas.openxmlformats.org/officeDocument/2006/relationships" id="2147483651" r:id="Rcb6ddd6f9477462e"/>
    <p:sldLayoutId xmlns:r="http://schemas.openxmlformats.org/officeDocument/2006/relationships" id="2147483652" r:id="Rfb55583fd87e4ac5"/>
    <p:sldLayoutId xmlns:r="http://schemas.openxmlformats.org/officeDocument/2006/relationships" id="2147483653" r:id="R8e99440cd1334f61"/>
    <p:sldLayoutId xmlns:r="http://schemas.openxmlformats.org/officeDocument/2006/relationships" id="2147483654" r:id="Rd2fded25fa7e40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21f358127d480d" /><Relationship Type="http://schemas.openxmlformats.org/officeDocument/2006/relationships/notesSlide" Target="/ppt/notesSlides/notesSlide1.xml" Id="R2a026bc5553a49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13cbe61f114c8f" /><Relationship Type="http://schemas.openxmlformats.org/officeDocument/2006/relationships/image" Target="/ppt/media/image.png" Id="R715cad2ceb964555" /><Relationship Type="http://schemas.openxmlformats.org/officeDocument/2006/relationships/notesSlide" Target="/ppt/notesSlides/notesSlide2.xml" Id="Rec8e71535775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1ccc08d2d940b1" /><Relationship Type="http://schemas.openxmlformats.org/officeDocument/2006/relationships/image" Target="/ppt/media/image2.png" Id="Rb853f461f5574a4c" /><Relationship Type="http://schemas.openxmlformats.org/officeDocument/2006/relationships/image" Target="/ppt/media/image3.png" Id="Ra17b75ea34044440" /><Relationship Type="http://schemas.openxmlformats.org/officeDocument/2006/relationships/notesSlide" Target="/ppt/notesSlides/notesSlide3.xml" Id="R8887f674c03742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634b162f234194" /><Relationship Type="http://schemas.openxmlformats.org/officeDocument/2006/relationships/notesSlide" Target="/ppt/notesSlides/notesSlide4.xml" Id="R8f3c669289bd4e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71d825e69b425f" /><Relationship Type="http://schemas.openxmlformats.org/officeDocument/2006/relationships/notesSlide" Target="/ppt/notesSlides/notesSlide5.xml" Id="R66ed7106a4de44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f832f67c414156" /><Relationship Type="http://schemas.openxmlformats.org/officeDocument/2006/relationships/notesSlide" Target="/ppt/notesSlides/notesSlide6.xml" Id="R160f76c3027f46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2406db382a4077" /><Relationship Type="http://schemas.openxmlformats.org/officeDocument/2006/relationships/notesSlide" Target="/ppt/notesSlides/notesSlide7.xml" Id="Rabe7fe4b00c543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ad49c89cba49d4" /><Relationship Type="http://schemas.openxmlformats.org/officeDocument/2006/relationships/notesSlide" Target="/ppt/notesSlides/notesSlide8.xml" Id="R906d93d493be46fc" /></Relationships>
</file>

<file path=ppt/slides/slide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3F1060D9-7C0C-4AA8-ABBA-718E0D4CC067}"/>
              </a:ext>
            </a:extLst>
          </p:cNvPr>
          <p:cNvSpPr>
            <a:spLocks xmlns:a="http://schemas.openxmlformats.org/drawingml/2006/main" noGrp="1"/>
          </p:cNvSpPr>
          <p:nvPr/>
        </p:nvSpPr>
        <p:spPr>
          <a:xfrm xmlns:a="http://schemas.openxmlformats.org/drawingml/2006/main">
            <a:off x="685800" y="4572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16948"/>
                </a:solidFill>
                <a:latin typeface="Segoe UI"/>
                <a:ea typeface="Segoe UI"/>
                <a:cs typeface="Segoe UI"/>
              </a:defRPr>
            </a:defPPr>
          </a:lstStyle>
          <a:p xmlns:a="http://schemas.openxmlformats.org/drawingml/2006/main">
            <a:pPr>
              <a:defRPr sz="2400" b="1">
                <a:solidFill>
                  <a:srgbClr val="116948"/>
                </a:solidFill>
                <a:latin typeface="Segoe UI"/>
                <a:ea typeface="Segoe UI"/>
                <a:cs typeface="Segoe UI"/>
              </a:defRPr>
            </a:pPr>
            <a:r>
              <a:rPr sz="2400" b="1">
                <a:solidFill>
                  <a:srgbClr val="116948"/>
                </a:solidFill>
                <a:latin typeface="Segoe UI"/>
                <a:ea typeface="Segoe UI"/>
                <a:cs typeface="Segoe UI"/>
              </a:rPr>
              <a:t>PlainSign</a:t>
            </a:r>
          </a:p>
        </p:txBody>
      </p:sp>
      <p:sp>
        <p:nvSpPr>
          <p:cNvPr id="2" name="hook">
            <a:extLst xmlns:a="http://schemas.openxmlformats.org/drawingml/2006/main">
              <a:ext uri="{FF2B5EF4-FFF2-40B4-BE49-F238E27FC236}">
                <a16:creationId xmlns:a16="http://schemas.microsoft.com/office/drawing/2014/main" id="{36039A32-8685-4232-9547-6CAEA971E189}"/>
              </a:ext>
            </a:extLst>
          </p:cNvPr>
          <p:cNvSpPr>
            <a:spLocks xmlns:a="http://schemas.openxmlformats.org/drawingml/2006/main" noGrp="1"/>
          </p:cNvSpPr>
          <p:nvPr/>
        </p:nvSpPr>
        <p:spPr>
          <a:xfrm xmlns:a="http://schemas.openxmlformats.org/drawingml/2006/main">
            <a:off x="685800" y="1562100"/>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17251F"/>
                </a:solidFill>
                <a:latin typeface="Segoe UI"/>
                <a:ea typeface="Segoe UI"/>
                <a:cs typeface="Segoe UI"/>
              </a:defRPr>
            </a:defPPr>
          </a:lstStyle>
          <a:p xmlns:a="http://schemas.openxmlformats.org/drawingml/2006/main">
            <a:pPr>
              <a:defRPr sz="6300" b="1">
                <a:solidFill>
                  <a:srgbClr val="17251F"/>
                </a:solidFill>
                <a:latin typeface="Segoe UI"/>
                <a:ea typeface="Segoe UI"/>
                <a:cs typeface="Segoe UI"/>
              </a:defRPr>
            </a:pPr>
            <a:r>
              <a:rPr sz="6300" b="1">
                <a:solidFill>
                  <a:srgbClr val="17251F"/>
                </a:solidFill>
                <a:latin typeface="Segoe UI"/>
                <a:ea typeface="Segoe UI"/>
                <a:cs typeface="Segoe UI"/>
              </a:rPr>
              <a:t>The button says</a:t>
            </a:r>
          </a:p>
          <a:p xmlns:a="http://schemas.openxmlformats.org/drawingml/2006/main">
            <a:pPr>
              <a:defRPr sz="6300" b="1">
                <a:solidFill>
                  <a:srgbClr val="17251F"/>
                </a:solidFill>
                <a:latin typeface="Segoe UI"/>
                <a:ea typeface="Segoe UI"/>
                <a:cs typeface="Segoe UI"/>
              </a:defRPr>
            </a:pPr>
            <a:r>
              <a:rPr sz="6300" b="1">
                <a:solidFill>
                  <a:srgbClr val="17251F"/>
                </a:solidFill>
                <a:latin typeface="Segoe UI"/>
                <a:ea typeface="Segoe UI"/>
                <a:cs typeface="Segoe UI"/>
              </a:rPr>
              <a:t>“Free Mint.”</a:t>
            </a:r>
          </a:p>
        </p:txBody>
      </p:sp>
      <p:sp>
        <p:nvSpPr>
          <p:cNvPr id="3" name="consequence">
            <a:extLst xmlns:a="http://schemas.openxmlformats.org/drawingml/2006/main">
              <a:ext uri="{FF2B5EF4-FFF2-40B4-BE49-F238E27FC236}">
                <a16:creationId xmlns:a16="http://schemas.microsoft.com/office/drawing/2014/main" id="{822D3EE2-A009-48AD-B35B-299D1886A94D}"/>
              </a:ext>
            </a:extLst>
          </p:cNvPr>
          <p:cNvSpPr>
            <a:spLocks xmlns:a="http://schemas.openxmlformats.org/drawingml/2006/main" noGrp="1"/>
          </p:cNvSpPr>
          <p:nvPr/>
        </p:nvSpPr>
        <p:spPr>
          <a:xfrm xmlns:a="http://schemas.openxmlformats.org/drawingml/2006/main">
            <a:off x="723900" y="4191000"/>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17251F"/>
                </a:solidFill>
                <a:latin typeface="Segoe UI"/>
                <a:ea typeface="Segoe UI"/>
                <a:cs typeface="Segoe UI"/>
              </a:defRPr>
            </a:defPPr>
          </a:lstStyle>
          <a:p xmlns:a="http://schemas.openxmlformats.org/drawingml/2006/main">
            <a:pPr>
              <a:defRPr sz="2850" b="0">
                <a:solidFill>
                  <a:srgbClr val="17251F"/>
                </a:solidFill>
                <a:latin typeface="Segoe UI"/>
                <a:ea typeface="Segoe UI"/>
                <a:cs typeface="Segoe UI"/>
              </a:defRPr>
            </a:pPr>
            <a:r>
              <a:rPr sz="2850" b="0">
                <a:solidFill>
                  <a:srgbClr val="17251F"/>
                </a:solidFill>
                <a:latin typeface="Segoe UI"/>
                <a:ea typeface="Segoe UI"/>
                <a:cs typeface="Segoe UI"/>
              </a:rPr>
              <a:t>The request can grant access</a:t>
            </a:r>
          </a:p>
          <a:p xmlns:a="http://schemas.openxmlformats.org/drawingml/2006/main">
            <a:pPr>
              <a:defRPr sz="2850" b="0">
                <a:solidFill>
                  <a:srgbClr val="17251F"/>
                </a:solidFill>
                <a:latin typeface="Segoe UI"/>
                <a:ea typeface="Segoe UI"/>
                <a:cs typeface="Segoe UI"/>
              </a:defRPr>
            </a:pPr>
            <a:r>
              <a:rPr sz="2850" b="0">
                <a:solidFill>
                  <a:srgbClr val="17251F"/>
                </a:solidFill>
                <a:latin typeface="Segoe UI"/>
                <a:ea typeface="Segoe UI"/>
                <a:cs typeface="Segoe UI"/>
              </a:rPr>
              <a:t>to an entire NFT collection.</a:t>
            </a:r>
          </a:p>
        </p:txBody>
      </p:sp>
      <p:sp>
        <p:nvSpPr>
          <p:cNvPr id="4" name="founder">
            <a:extLst xmlns:a="http://schemas.openxmlformats.org/drawingml/2006/main">
              <a:ext uri="{FF2B5EF4-FFF2-40B4-BE49-F238E27FC236}">
                <a16:creationId xmlns:a16="http://schemas.microsoft.com/office/drawing/2014/main" id="{996C27B3-CA54-4CFD-A095-333DD96549DE}"/>
              </a:ext>
            </a:extLst>
          </p:cNvPr>
          <p:cNvSpPr>
            <a:spLocks xmlns:a="http://schemas.openxmlformats.org/drawingml/2006/main" noGrp="1"/>
          </p:cNvSpPr>
          <p:nvPr/>
        </p:nvSpPr>
        <p:spPr>
          <a:xfrm xmlns:a="http://schemas.openxmlformats.org/drawingml/2006/main">
            <a:off x="723900" y="59055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65B"/>
                </a:solidFill>
                <a:latin typeface="Segoe UI"/>
                <a:ea typeface="Segoe UI"/>
                <a:cs typeface="Segoe UI"/>
              </a:defRPr>
            </a:defPPr>
          </a:lstStyle>
          <a:p xmlns:a="http://schemas.openxmlformats.org/drawingml/2006/main">
            <a:pPr>
              <a:defRPr sz="1725" b="0">
                <a:solidFill>
                  <a:srgbClr val="52665B"/>
                </a:solidFill>
                <a:latin typeface="Segoe UI"/>
                <a:ea typeface="Segoe UI"/>
                <a:cs typeface="Segoe UI"/>
              </a:defRPr>
            </a:pPr>
            <a:r>
              <a:rPr sz="1725" b="0">
                <a:solidFill>
                  <a:srgbClr val="52665B"/>
                </a:solidFill>
                <a:latin typeface="Segoe UI"/>
                <a:ea typeface="Segoe UI"/>
                <a:cs typeface="Segoe UI"/>
              </a:rPr>
              <a:t>Mohamed Adib · Sri Venkateswara College of Engineering</a:t>
            </a:r>
          </a:p>
        </p:txBody>
      </p:sp>
      <p:sp>
        <p:nvSpPr>
          <p:cNvPr id="5" name="slide-number">
            <a:extLst xmlns:a="http://schemas.openxmlformats.org/drawingml/2006/main">
              <a:ext uri="{FF2B5EF4-FFF2-40B4-BE49-F238E27FC236}">
                <a16:creationId xmlns:a16="http://schemas.microsoft.com/office/drawing/2014/main" id="{F4D2FA1F-D487-4419-B34C-57D02F947440}"/>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65B"/>
                </a:solidFill>
                <a:latin typeface="Segoe UI"/>
                <a:ea typeface="Segoe UI"/>
                <a:cs typeface="Segoe UI"/>
              </a:defRPr>
            </a:defPPr>
          </a:lstStyle>
          <a:p xmlns:a="http://schemas.openxmlformats.org/drawingml/2006/main">
            <a:pPr>
              <a:defRPr sz="1350" b="0">
                <a:solidFill>
                  <a:srgbClr val="52665B"/>
                </a:solidFill>
                <a:latin typeface="Segoe UI"/>
                <a:ea typeface="Segoe UI"/>
                <a:cs typeface="Segoe UI"/>
              </a:defRPr>
            </a:pPr>
            <a:r>
              <a:rPr sz="1350" b="0">
                <a:solidFill>
                  <a:srgbClr val="52665B"/>
                </a:solidFill>
                <a:latin typeface="Segoe UI"/>
                <a:ea typeface="Segoe UI"/>
                <a:cs typeface="Segoe UI"/>
              </a:rPr>
              <a:t>01</a:t>
            </a:r>
          </a:p>
        </p:txBody>
      </p:sp>
    </p:spTree>
    <p:extLst>
      <p:ext uri="{BB962C8B-B14F-4D97-AF65-F5344CB8AC3E}">
        <p14:creationId xmlns:p14="http://schemas.microsoft.com/office/powerpoint/2010/main" val="1464142048"/>
      </p:ext>
    </p:extLst>
  </p:cSld>
</p:sld>
</file>

<file path=ppt/slides/slide2.xml><?xml version="1.0" encoding="utf-8"?>
<p:sld xmlns:p="http://schemas.openxmlformats.org/presentationml/2006/main">
  <p:cSld>
    <p:bg>
      <p:bgPr>
        <a:solidFill xmlns:a="http://schemas.openxmlformats.org/drawingml/2006/main">
          <a:srgbClr val="101D1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3CD096A-654B-4D16-A03C-88F2010CC982}"/>
              </a:ext>
            </a:extLst>
          </p:cNvPr>
          <p:cNvSpPr>
            <a:spLocks xmlns:a="http://schemas.openxmlformats.org/drawingml/2006/main" noGrp="1"/>
          </p:cNvSpPr>
          <p:nvPr/>
        </p:nvSpPr>
        <p:spPr>
          <a:xfrm xmlns:a="http://schemas.openxmlformats.org/drawingml/2006/main">
            <a:off x="685800" y="6858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EDEFE8"/>
                </a:solidFill>
                <a:latin typeface="Segoe UI"/>
                <a:ea typeface="Segoe UI"/>
                <a:cs typeface="Segoe UI"/>
              </a:defRPr>
            </a:defPPr>
          </a:lstStyle>
          <a:p xmlns:a="http://schemas.openxmlformats.org/drawingml/2006/main">
            <a:pPr>
              <a:defRPr sz="4350" b="1">
                <a:solidFill>
                  <a:srgbClr val="EDEFE8"/>
                </a:solidFill>
                <a:latin typeface="Segoe UI"/>
                <a:ea typeface="Segoe UI"/>
                <a:cs typeface="Segoe UI"/>
              </a:defRPr>
            </a:pPr>
            <a:r>
              <a:rPr sz="4350" b="1">
                <a:solidFill>
                  <a:srgbClr val="EDEFE8"/>
                </a:solidFill>
                <a:latin typeface="Segoe UI"/>
                <a:ea typeface="Segoe UI"/>
                <a:cs typeface="Segoe UI"/>
              </a:rPr>
              <a:t>Before the</a:t>
            </a:r>
          </a:p>
          <a:p xmlns:a="http://schemas.openxmlformats.org/drawingml/2006/main">
            <a:pPr>
              <a:defRPr sz="4350" b="1">
                <a:solidFill>
                  <a:srgbClr val="EDEFE8"/>
                </a:solidFill>
                <a:latin typeface="Segoe UI"/>
                <a:ea typeface="Segoe UI"/>
                <a:cs typeface="Segoe UI"/>
              </a:defRPr>
            </a:pPr>
            <a:r>
              <a:rPr sz="4350" b="1">
                <a:solidFill>
                  <a:srgbClr val="EDEFE8"/>
                </a:solidFill>
                <a:latin typeface="Segoe UI"/>
                <a:ea typeface="Segoe UI"/>
                <a:cs typeface="Segoe UI"/>
              </a:rPr>
              <a:t>wallet opens</a:t>
            </a:r>
          </a:p>
        </p:txBody>
      </p:sp>
      <p:sp>
        <p:nvSpPr>
          <p:cNvPr id="2" name="meaning">
            <a:extLst xmlns:a="http://schemas.openxmlformats.org/drawingml/2006/main">
              <a:ext uri="{FF2B5EF4-FFF2-40B4-BE49-F238E27FC236}">
                <a16:creationId xmlns:a16="http://schemas.microsoft.com/office/drawing/2014/main" id="{C3C6AF46-0903-4BDF-A0E9-2984959B9740}"/>
              </a:ext>
            </a:extLst>
          </p:cNvPr>
          <p:cNvSpPr>
            <a:spLocks xmlns:a="http://schemas.openxmlformats.org/drawingml/2006/main" noGrp="1"/>
          </p:cNvSpPr>
          <p:nvPr/>
        </p:nvSpPr>
        <p:spPr>
          <a:xfrm xmlns:a="http://schemas.openxmlformats.org/drawingml/2006/main">
            <a:off x="723900" y="2733675"/>
            <a:ext cx="4714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EDEFE8"/>
                </a:solidFill>
                <a:latin typeface="Segoe UI"/>
                <a:ea typeface="Segoe UI"/>
                <a:cs typeface="Segoe UI"/>
              </a:defRPr>
            </a:defPPr>
          </a:lstStyle>
          <a:p xmlns:a="http://schemas.openxmlformats.org/drawingml/2006/main">
            <a:pPr>
              <a:defRPr sz="2625" b="0">
                <a:solidFill>
                  <a:srgbClr val="EDEFE8"/>
                </a:solidFill>
                <a:latin typeface="Segoe UI"/>
                <a:ea typeface="Segoe UI"/>
                <a:cs typeface="Segoe UI"/>
              </a:defRPr>
            </a:pPr>
            <a:r>
              <a:rPr sz="2625" b="0">
                <a:solidFill>
                  <a:srgbClr val="EDEFE8"/>
                </a:solidFill>
                <a:latin typeface="Segoe UI"/>
                <a:ea typeface="Segoe UI"/>
                <a:cs typeface="Segoe UI"/>
              </a:rPr>
              <a:t>Who gets access?</a:t>
            </a:r>
          </a:p>
          <a:p xmlns:a="http://schemas.openxmlformats.org/drawingml/2006/main">
            <a:pPr>
              <a:defRPr sz="2625" b="0">
                <a:solidFill>
                  <a:srgbClr val="EDEFE8"/>
                </a:solidFill>
                <a:latin typeface="Segoe UI"/>
                <a:ea typeface="Segoe UI"/>
                <a:cs typeface="Segoe UI"/>
              </a:defRPr>
            </a:pPr>
            <a:r>
              <a:rPr sz="2625" b="0">
                <a:solidFill>
                  <a:srgbClr val="EDEFE8"/>
                </a:solidFill>
                <a:latin typeface="Segoe UI"/>
                <a:ea typeface="Segoe UI"/>
                <a:cs typeface="Segoe UI"/>
              </a:rPr>
              <a:t>What can they move?</a:t>
            </a:r>
          </a:p>
        </p:txBody>
      </p:sp>
      <p:sp>
        <p:nvSpPr>
          <p:cNvPr id="3" name="reject">
            <a:extLst xmlns:a="http://schemas.openxmlformats.org/drawingml/2006/main">
              <a:ext uri="{FF2B5EF4-FFF2-40B4-BE49-F238E27FC236}">
                <a16:creationId xmlns:a16="http://schemas.microsoft.com/office/drawing/2014/main" id="{9049C6EC-0BA5-41E2-91AC-E39D6E8A36D7}"/>
              </a:ext>
            </a:extLst>
          </p:cNvPr>
          <p:cNvSpPr>
            <a:spLocks xmlns:a="http://schemas.openxmlformats.org/drawingml/2006/main" noGrp="1"/>
          </p:cNvSpPr>
          <p:nvPr/>
        </p:nvSpPr>
        <p:spPr>
          <a:xfrm xmlns:a="http://schemas.openxmlformats.org/drawingml/2006/main">
            <a:off x="723900" y="4572000"/>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FE0B2"/>
                </a:solidFill>
                <a:latin typeface="Segoe UI"/>
                <a:ea typeface="Segoe UI"/>
                <a:cs typeface="Segoe UI"/>
              </a:defRPr>
            </a:defPPr>
          </a:lstStyle>
          <a:p xmlns:a="http://schemas.openxmlformats.org/drawingml/2006/main">
            <a:pPr>
              <a:defRPr sz="2550" b="1">
                <a:solidFill>
                  <a:srgbClr val="8FE0B2"/>
                </a:solidFill>
                <a:latin typeface="Segoe UI"/>
                <a:ea typeface="Segoe UI"/>
                <a:cs typeface="Segoe UI"/>
              </a:defRPr>
            </a:pPr>
            <a:r>
              <a:rPr sz="2550" b="1">
                <a:solidFill>
                  <a:srgbClr val="8FE0B2"/>
                </a:solidFill>
                <a:latin typeface="Segoe UI"/>
                <a:ea typeface="Segoe UI"/>
                <a:cs typeface="Segoe UI"/>
              </a:rPr>
              <a:t>Reject stops the request</a:t>
            </a:r>
          </a:p>
        </p:txBody>
      </p:sp>
      <p:sp>
        <p:nvSpPr>
          <p:cNvPr id="4" name="error">
            <a:extLst xmlns:a="http://schemas.openxmlformats.org/drawingml/2006/main">
              <a:ext uri="{FF2B5EF4-FFF2-40B4-BE49-F238E27FC236}">
                <a16:creationId xmlns:a16="http://schemas.microsoft.com/office/drawing/2014/main" id="{43BB6AC9-3817-42DB-9F86-7EB4DDBA716D}"/>
              </a:ext>
            </a:extLst>
          </p:cNvPr>
          <p:cNvSpPr>
            <a:spLocks xmlns:a="http://schemas.openxmlformats.org/drawingml/2006/main" noGrp="1"/>
          </p:cNvSpPr>
          <p:nvPr/>
        </p:nvSpPr>
        <p:spPr>
          <a:xfrm xmlns:a="http://schemas.openxmlformats.org/drawingml/2006/main">
            <a:off x="723900" y="538162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DEFE8"/>
                </a:solidFill>
                <a:latin typeface="Segoe UI"/>
                <a:ea typeface="Segoe UI"/>
                <a:cs typeface="Segoe UI"/>
              </a:defRPr>
            </a:defPPr>
          </a:lstStyle>
          <a:p xmlns:a="http://schemas.openxmlformats.org/drawingml/2006/main">
            <a:pPr>
              <a:defRPr sz="1725" b="0">
                <a:solidFill>
                  <a:srgbClr val="EDEFE8"/>
                </a:solidFill>
                <a:latin typeface="Segoe UI"/>
                <a:ea typeface="Segoe UI"/>
                <a:cs typeface="Segoe UI"/>
              </a:defRPr>
            </a:pPr>
            <a:r>
              <a:rPr sz="1725" b="0">
                <a:solidFill>
                  <a:srgbClr val="EDEFE8"/>
                </a:solidFill>
                <a:latin typeface="Segoe UI"/>
                <a:ea typeface="Segoe UI"/>
                <a:cs typeface="Segoe UI"/>
              </a:rPr>
              <a:t>Standard wallet error 4001</a:t>
            </a:r>
          </a:p>
        </p:txBody>
      </p:sp>
      <p:pic>
        <p:nvPicPr>
          <p:cNvPr id="5" name="">
            <a:extLst xmlns:a="http://schemas.openxmlformats.org/drawingml/2006/main">
              <a:ext uri="{FF2B5EF4-FFF2-40B4-BE49-F238E27FC236}">
                <a16:creationId xmlns:a16="http://schemas.microsoft.com/office/drawing/2014/main" id="{D0A9DA20-6C17-4E17-9579-54553B534B40}"/>
              </a:ext>
            </a:extLst>
          </p:cNvPr>
          <p:cNvPicPr>
            <a:picLocks xmlns:a="http://schemas.openxmlformats.org/drawingml/2006/main" noChangeAspect="1"/>
          </p:cNvPicPr>
          <p:nvPr/>
        </p:nvPicPr>
        <p:blipFill>
          <a:blip xmlns:r="http://schemas.openxmlformats.org/officeDocument/2006/relationships" xmlns:a="http://schemas.openxmlformats.org/drawingml/2006/main" r:embed="R715cad2ceb964555"/>
          <a:stretch xmlns:a="http://schemas.openxmlformats.org/drawingml/2006/main"/>
        </p:blipFill>
        <p:spPr>
          <a:xfrm xmlns:a="http://schemas.openxmlformats.org/drawingml/2006/main">
            <a:off x="5676900" y="1322128"/>
            <a:ext cx="5905500" cy="3947043"/>
          </a:xfrm>
          <a:prstGeom xmlns:a="http://schemas.openxmlformats.org/drawingml/2006/main" prst="rect">
            <a:avLst/>
          </a:prstGeom>
        </p:spPr>
      </p:pic>
      <p:sp>
        <p:nvSpPr>
          <p:cNvPr id="6" name="disclosure">
            <a:extLst xmlns:a="http://schemas.openxmlformats.org/drawingml/2006/main">
              <a:ext uri="{FF2B5EF4-FFF2-40B4-BE49-F238E27FC236}">
                <a16:creationId xmlns:a16="http://schemas.microsoft.com/office/drawing/2014/main" id="{137F7EAA-D7DC-4361-92B5-5908D4F436AD}"/>
              </a:ext>
            </a:extLst>
          </p:cNvPr>
          <p:cNvSpPr>
            <a:spLocks xmlns:a="http://schemas.openxmlformats.org/drawingml/2006/main" noGrp="1"/>
          </p:cNvSpPr>
          <p:nvPr/>
        </p:nvSpPr>
        <p:spPr>
          <a:xfrm xmlns:a="http://schemas.openxmlformats.org/drawingml/2006/main">
            <a:off x="5981700" y="58293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8FE0B2"/>
                </a:solidFill>
                <a:latin typeface="Segoe UI"/>
                <a:ea typeface="Segoe UI"/>
                <a:cs typeface="Segoe UI"/>
              </a:defRPr>
            </a:defPPr>
          </a:lstStyle>
          <a:p xmlns:a="http://schemas.openxmlformats.org/drawingml/2006/main">
            <a:pPr>
              <a:defRPr sz="1500" b="0">
                <a:solidFill>
                  <a:srgbClr val="8FE0B2"/>
                </a:solidFill>
                <a:latin typeface="Segoe UI"/>
                <a:ea typeface="Segoe UI"/>
                <a:cs typeface="Segoe UI"/>
              </a:defRPr>
            </a:pPr>
            <a:r>
              <a:rPr sz="1500" b="0">
                <a:solidFill>
                  <a:srgbClr val="8FE0B2"/>
                </a:solidFill>
                <a:latin typeface="Segoe UI"/>
                <a:ea typeface="Segoe UI"/>
                <a:cs typeface="Segoe UI"/>
              </a:rPr>
              <a:t>Controlled sample · simulated metadata</a:t>
            </a:r>
          </a:p>
        </p:txBody>
      </p:sp>
      <p:sp>
        <p:nvSpPr>
          <p:cNvPr id="7" name="slide-number">
            <a:extLst xmlns:a="http://schemas.openxmlformats.org/drawingml/2006/main">
              <a:ext uri="{FF2B5EF4-FFF2-40B4-BE49-F238E27FC236}">
                <a16:creationId xmlns:a16="http://schemas.microsoft.com/office/drawing/2014/main" id="{384FEDE9-2874-43E3-A51A-C690DCAF8333}"/>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8FE0B2"/>
                </a:solidFill>
                <a:latin typeface="Segoe UI"/>
                <a:ea typeface="Segoe UI"/>
                <a:cs typeface="Segoe UI"/>
              </a:defRPr>
            </a:defPPr>
          </a:lstStyle>
          <a:p xmlns:a="http://schemas.openxmlformats.org/drawingml/2006/main">
            <a:pPr>
              <a:defRPr sz="1350" b="0">
                <a:solidFill>
                  <a:srgbClr val="8FE0B2"/>
                </a:solidFill>
                <a:latin typeface="Segoe UI"/>
                <a:ea typeface="Segoe UI"/>
                <a:cs typeface="Segoe UI"/>
              </a:defRPr>
            </a:pPr>
            <a:r>
              <a:rPr sz="1350" b="0">
                <a:solidFill>
                  <a:srgbClr val="8FE0B2"/>
                </a:solidFill>
                <a:latin typeface="Segoe UI"/>
                <a:ea typeface="Segoe UI"/>
                <a:cs typeface="Segoe UI"/>
              </a:rPr>
              <a:t>02</a:t>
            </a:r>
          </a:p>
        </p:txBody>
      </p:sp>
    </p:spTree>
    <p:extLst>
      <p:ext uri="{BB962C8B-B14F-4D97-AF65-F5344CB8AC3E}">
        <p14:creationId xmlns:p14="http://schemas.microsoft.com/office/powerpoint/2010/main" val="1156933622"/>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79A8A4D-71A0-44D5-BEA6-D2F3DD2ED055}"/>
              </a:ext>
            </a:extLst>
          </p:cNvPr>
          <p:cNvSpPr>
            <a:spLocks xmlns:a="http://schemas.openxmlformats.org/drawingml/2006/main" noGrp="1"/>
          </p:cNvSpPr>
          <p:nvPr/>
        </p:nvSpPr>
        <p:spPr>
          <a:xfrm xmlns:a="http://schemas.openxmlformats.org/drawingml/2006/main">
            <a:off x="685800" y="53340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7251F"/>
                </a:solidFill>
                <a:latin typeface="Segoe UI"/>
                <a:ea typeface="Segoe UI"/>
                <a:cs typeface="Segoe UI"/>
              </a:defRPr>
            </a:defPPr>
          </a:lstStyle>
          <a:p xmlns:a="http://schemas.openxmlformats.org/drawingml/2006/main">
            <a:pPr>
              <a:defRPr sz="3825" b="1">
                <a:solidFill>
                  <a:srgbClr val="17251F"/>
                </a:solidFill>
                <a:latin typeface="Segoe UI"/>
                <a:ea typeface="Segoe UI"/>
                <a:cs typeface="Segoe UI"/>
              </a:defRPr>
            </a:pPr>
            <a:r>
              <a:rPr sz="3825" b="1">
                <a:solidFill>
                  <a:srgbClr val="17251F"/>
                </a:solidFill>
                <a:latin typeface="Segoe UI"/>
                <a:ea typeface="Segoe UI"/>
                <a:cs typeface="Segoe UI"/>
              </a:rPr>
              <a:t>Signatures can grant permission too</a:t>
            </a:r>
          </a:p>
        </p:txBody>
      </p:sp>
      <p:sp>
        <p:nvSpPr>
          <p:cNvPr id="2" name="permit-label">
            <a:extLst xmlns:a="http://schemas.openxmlformats.org/drawingml/2006/main">
              <a:ext uri="{FF2B5EF4-FFF2-40B4-BE49-F238E27FC236}">
                <a16:creationId xmlns:a16="http://schemas.microsoft.com/office/drawing/2014/main" id="{69DA7110-8363-4FE9-9587-8F2E2AAB5EDC}"/>
              </a:ext>
            </a:extLst>
          </p:cNvPr>
          <p:cNvSpPr>
            <a:spLocks xmlns:a="http://schemas.openxmlformats.org/drawingml/2006/main" noGrp="1"/>
          </p:cNvSpPr>
          <p:nvPr/>
        </p:nvSpPr>
        <p:spPr>
          <a:xfrm xmlns:a="http://schemas.openxmlformats.org/drawingml/2006/main">
            <a:off x="704850" y="174307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23B46"/>
                </a:solidFill>
                <a:latin typeface="Segoe UI"/>
                <a:ea typeface="Segoe UI"/>
                <a:cs typeface="Segoe UI"/>
              </a:defRPr>
            </a:defPPr>
          </a:lstStyle>
          <a:p xmlns:a="http://schemas.openxmlformats.org/drawingml/2006/main">
            <a:pPr>
              <a:defRPr sz="2100" b="1">
                <a:solidFill>
                  <a:srgbClr val="B23B46"/>
                </a:solidFill>
                <a:latin typeface="Segoe UI"/>
                <a:ea typeface="Segoe UI"/>
                <a:cs typeface="Segoe UI"/>
              </a:defRPr>
            </a:pPr>
            <a:r>
              <a:rPr sz="2100" b="1">
                <a:solidFill>
                  <a:srgbClr val="B23B46"/>
                </a:solidFill>
                <a:latin typeface="Segoe UI"/>
                <a:ea typeface="Segoe UI"/>
                <a:cs typeface="Segoe UI"/>
              </a:rPr>
              <a:t>Permit2: unlimited permission</a:t>
            </a:r>
          </a:p>
        </p:txBody>
      </p:sp>
      <p:sp>
        <p:nvSpPr>
          <p:cNvPr id="3" name="login-label">
            <a:extLst xmlns:a="http://schemas.openxmlformats.org/drawingml/2006/main">
              <a:ext uri="{FF2B5EF4-FFF2-40B4-BE49-F238E27FC236}">
                <a16:creationId xmlns:a16="http://schemas.microsoft.com/office/drawing/2014/main" id="{3FAECB29-8D0F-4240-B7FC-DF8476A4193F}"/>
              </a:ext>
            </a:extLst>
          </p:cNvPr>
          <p:cNvSpPr>
            <a:spLocks xmlns:a="http://schemas.openxmlformats.org/drawingml/2006/main" noGrp="1"/>
          </p:cNvSpPr>
          <p:nvPr/>
        </p:nvSpPr>
        <p:spPr>
          <a:xfrm xmlns:a="http://schemas.openxmlformats.org/drawingml/2006/main">
            <a:off x="6477000" y="17430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6948"/>
                </a:solidFill>
                <a:latin typeface="Segoe UI"/>
                <a:ea typeface="Segoe UI"/>
                <a:cs typeface="Segoe UI"/>
              </a:defRPr>
            </a:defPPr>
          </a:lstStyle>
          <a:p xmlns:a="http://schemas.openxmlformats.org/drawingml/2006/main">
            <a:pPr>
              <a:defRPr sz="2100" b="1">
                <a:solidFill>
                  <a:srgbClr val="116948"/>
                </a:solidFill>
                <a:latin typeface="Segoe UI"/>
                <a:ea typeface="Segoe UI"/>
                <a:cs typeface="Segoe UI"/>
              </a:defRPr>
            </a:pPr>
            <a:r>
              <a:rPr sz="2100" b="1">
                <a:solidFill>
                  <a:srgbClr val="116948"/>
                </a:solidFill>
                <a:latin typeface="Segoe UI"/>
                <a:ea typeface="Segoe UI"/>
                <a:cs typeface="Segoe UI"/>
              </a:rPr>
              <a:t>Sign in: a login message</a:t>
            </a:r>
          </a:p>
        </p:txBody>
      </p:sp>
      <p:pic>
        <p:nvPicPr>
          <p:cNvPr id="4" name="">
            <a:extLst xmlns:a="http://schemas.openxmlformats.org/drawingml/2006/main">
              <a:ext uri="{FF2B5EF4-FFF2-40B4-BE49-F238E27FC236}">
                <a16:creationId xmlns:a16="http://schemas.microsoft.com/office/drawing/2014/main" id="{07DAC931-71E8-46E5-8AB2-0461973A66C6}"/>
              </a:ext>
            </a:extLst>
          </p:cNvPr>
          <p:cNvPicPr>
            <a:picLocks xmlns:a="http://schemas.openxmlformats.org/drawingml/2006/main" noChangeAspect="1"/>
          </p:cNvPicPr>
          <p:nvPr/>
        </p:nvPicPr>
        <p:blipFill>
          <a:blip xmlns:r="http://schemas.openxmlformats.org/officeDocument/2006/relationships" xmlns:a="http://schemas.openxmlformats.org/drawingml/2006/main" r:embed="Rb853f461f5574a4c"/>
          <a:stretch xmlns:a="http://schemas.openxmlformats.org/drawingml/2006/main"/>
        </p:blipFill>
        <p:spPr>
          <a:xfrm xmlns:a="http://schemas.openxmlformats.org/drawingml/2006/main">
            <a:off x="882480" y="2333625"/>
            <a:ext cx="4845389" cy="32385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F17187E-1655-48E1-99FD-9529D7D1F7FC}"/>
              </a:ext>
            </a:extLst>
          </p:cNvPr>
          <p:cNvPicPr>
            <a:picLocks xmlns:a="http://schemas.openxmlformats.org/drawingml/2006/main" noChangeAspect="1"/>
          </p:cNvPicPr>
          <p:nvPr/>
        </p:nvPicPr>
        <p:blipFill>
          <a:blip xmlns:r="http://schemas.openxmlformats.org/officeDocument/2006/relationships" xmlns:a="http://schemas.openxmlformats.org/drawingml/2006/main" r:embed="Ra17b75ea34044440"/>
          <a:stretch xmlns:a="http://schemas.openxmlformats.org/drawingml/2006/main"/>
        </p:blipFill>
        <p:spPr>
          <a:xfrm xmlns:a="http://schemas.openxmlformats.org/drawingml/2006/main">
            <a:off x="6438900" y="2677934"/>
            <a:ext cx="5048250" cy="2549881"/>
          </a:xfrm>
          <a:prstGeom xmlns:a="http://schemas.openxmlformats.org/drawingml/2006/main" prst="rect">
            <a:avLst/>
          </a:prstGeom>
        </p:spPr>
      </p:pic>
      <p:sp>
        <p:nvSpPr>
          <p:cNvPr id="6" name="caveat">
            <a:extLst xmlns:a="http://schemas.openxmlformats.org/drawingml/2006/main">
              <a:ext uri="{FF2B5EF4-FFF2-40B4-BE49-F238E27FC236}">
                <a16:creationId xmlns:a16="http://schemas.microsoft.com/office/drawing/2014/main" id="{DCE9797C-26CD-4CA7-9189-5347DAAF2C93}"/>
              </a:ext>
            </a:extLst>
          </p:cNvPr>
          <p:cNvSpPr>
            <a:spLocks xmlns:a="http://schemas.openxmlformats.org/drawingml/2006/main" noGrp="1"/>
          </p:cNvSpPr>
          <p:nvPr/>
        </p:nvSpPr>
        <p:spPr>
          <a:xfrm xmlns:a="http://schemas.openxmlformats.org/drawingml/2006/main">
            <a:off x="723900" y="595312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65B"/>
                </a:solidFill>
                <a:latin typeface="Segoe UI"/>
                <a:ea typeface="Segoe UI"/>
                <a:cs typeface="Segoe UI"/>
              </a:defRPr>
            </a:defPPr>
          </a:lstStyle>
          <a:p xmlns:a="http://schemas.openxmlformats.org/drawingml/2006/main">
            <a:pPr>
              <a:defRPr sz="1575" b="0">
                <a:solidFill>
                  <a:srgbClr val="52665B"/>
                </a:solidFill>
                <a:latin typeface="Segoe UI"/>
                <a:ea typeface="Segoe UI"/>
                <a:cs typeface="Segoe UI"/>
              </a:defRPr>
            </a:pPr>
            <a:r>
              <a:rPr sz="1575" b="0">
                <a:solidFill>
                  <a:srgbClr val="52665B"/>
                </a:solidFill>
                <a:latin typeface="Segoe UI"/>
                <a:ea typeface="Segoe UI"/>
                <a:cs typeface="Segoe UI"/>
              </a:rPr>
              <a:t>Controlled samples. Metadata is simulated. Safe is a heuristic, not a guarantee.</a:t>
            </a:r>
          </a:p>
        </p:txBody>
      </p:sp>
      <p:sp>
        <p:nvSpPr>
          <p:cNvPr id="7" name="slide-number">
            <a:extLst xmlns:a="http://schemas.openxmlformats.org/drawingml/2006/main">
              <a:ext uri="{FF2B5EF4-FFF2-40B4-BE49-F238E27FC236}">
                <a16:creationId xmlns:a16="http://schemas.microsoft.com/office/drawing/2014/main" id="{6E19BCBC-380F-4420-8F76-BFD9E82CA683}"/>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65B"/>
                </a:solidFill>
                <a:latin typeface="Segoe UI"/>
                <a:ea typeface="Segoe UI"/>
                <a:cs typeface="Segoe UI"/>
              </a:defRPr>
            </a:defPPr>
          </a:lstStyle>
          <a:p xmlns:a="http://schemas.openxmlformats.org/drawingml/2006/main">
            <a:pPr>
              <a:defRPr sz="1350" b="0">
                <a:solidFill>
                  <a:srgbClr val="52665B"/>
                </a:solidFill>
                <a:latin typeface="Segoe UI"/>
                <a:ea typeface="Segoe UI"/>
                <a:cs typeface="Segoe UI"/>
              </a:defRPr>
            </a:pPr>
            <a:r>
              <a:rPr sz="1350" b="0">
                <a:solidFill>
                  <a:srgbClr val="52665B"/>
                </a:solidFill>
                <a:latin typeface="Segoe UI"/>
                <a:ea typeface="Segoe UI"/>
                <a:cs typeface="Segoe UI"/>
              </a:rPr>
              <a:t>03</a:t>
            </a:r>
          </a:p>
        </p:txBody>
      </p:sp>
    </p:spTree>
    <p:extLst>
      <p:ext uri="{BB962C8B-B14F-4D97-AF65-F5344CB8AC3E}">
        <p14:creationId xmlns:p14="http://schemas.microsoft.com/office/powerpoint/2010/main" val="1201722279"/>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E8185C9-B730-46DA-AE80-8A790E3CDB66}"/>
              </a:ext>
            </a:extLst>
          </p:cNvPr>
          <p:cNvSpPr>
            <a:spLocks xmlns:a="http://schemas.openxmlformats.org/drawingml/2006/main" noGrp="1"/>
          </p:cNvSpPr>
          <p:nvPr/>
        </p:nvSpPr>
        <p:spPr>
          <a:xfrm xmlns:a="http://schemas.openxmlformats.org/drawingml/2006/main">
            <a:off x="685800" y="5524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7251F"/>
                </a:solidFill>
                <a:latin typeface="Segoe UI"/>
                <a:ea typeface="Segoe UI"/>
                <a:cs typeface="Segoe UI"/>
              </a:defRPr>
            </a:defPPr>
          </a:lstStyle>
          <a:p xmlns:a="http://schemas.openxmlformats.org/drawingml/2006/main">
            <a:pPr>
              <a:defRPr sz="4350" b="1">
                <a:solidFill>
                  <a:srgbClr val="17251F"/>
                </a:solidFill>
                <a:latin typeface="Segoe UI"/>
                <a:ea typeface="Segoe UI"/>
                <a:cs typeface="Segoe UI"/>
              </a:defRPr>
            </a:pPr>
            <a:r>
              <a:rPr sz="4350" b="1">
                <a:solidFill>
                  <a:srgbClr val="17251F"/>
                </a:solidFill>
                <a:latin typeface="Segoe UI"/>
                <a:ea typeface="Segoe UI"/>
                <a:cs typeface="Segoe UI"/>
              </a:rPr>
              <a:t>Open rules, visible reasons</a:t>
            </a:r>
          </a:p>
        </p:txBody>
      </p:sp>
      <p:sp>
        <p:nvSpPr>
          <p:cNvPr id="2" name="Decode-label">
            <a:extLst xmlns:a="http://schemas.openxmlformats.org/drawingml/2006/main">
              <a:ext uri="{FF2B5EF4-FFF2-40B4-BE49-F238E27FC236}">
                <a16:creationId xmlns:a16="http://schemas.microsoft.com/office/drawing/2014/main" id="{75685341-F597-4EFC-AC65-36F7E90199CF}"/>
              </a:ext>
            </a:extLst>
          </p:cNvPr>
          <p:cNvSpPr>
            <a:spLocks xmlns:a="http://schemas.openxmlformats.org/drawingml/2006/main" noGrp="1"/>
          </p:cNvSpPr>
          <p:nvPr/>
        </p:nvSpPr>
        <p:spPr>
          <a:xfrm xmlns:a="http://schemas.openxmlformats.org/drawingml/2006/main">
            <a:off x="723900" y="19812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16948"/>
                </a:solidFill>
                <a:latin typeface="Segoe UI"/>
                <a:ea typeface="Segoe UI"/>
                <a:cs typeface="Segoe UI"/>
              </a:defRPr>
            </a:defPPr>
          </a:lstStyle>
          <a:p xmlns:a="http://schemas.openxmlformats.org/drawingml/2006/main">
            <a:pPr>
              <a:defRPr sz="2850" b="1">
                <a:solidFill>
                  <a:srgbClr val="116948"/>
                </a:solidFill>
                <a:latin typeface="Segoe UI"/>
                <a:ea typeface="Segoe UI"/>
                <a:cs typeface="Segoe UI"/>
              </a:defRPr>
            </a:pPr>
            <a:r>
              <a:rPr sz="2850" b="1">
                <a:solidFill>
                  <a:srgbClr val="116948"/>
                </a:solidFill>
                <a:latin typeface="Segoe UI"/>
                <a:ea typeface="Segoe UI"/>
                <a:cs typeface="Segoe UI"/>
              </a:rPr>
              <a:t>Decode</a:t>
            </a:r>
          </a:p>
        </p:txBody>
      </p:sp>
      <p:sp>
        <p:nvSpPr>
          <p:cNvPr id="3" name="Decode-body">
            <a:extLst xmlns:a="http://schemas.openxmlformats.org/drawingml/2006/main">
              <a:ext uri="{FF2B5EF4-FFF2-40B4-BE49-F238E27FC236}">
                <a16:creationId xmlns:a16="http://schemas.microsoft.com/office/drawing/2014/main" id="{38578833-8281-413E-AE78-A3FD4FE7DD4B}"/>
              </a:ext>
            </a:extLst>
          </p:cNvPr>
          <p:cNvSpPr>
            <a:spLocks xmlns:a="http://schemas.openxmlformats.org/drawingml/2006/main" noGrp="1"/>
          </p:cNvSpPr>
          <p:nvPr/>
        </p:nvSpPr>
        <p:spPr>
          <a:xfrm xmlns:a="http://schemas.openxmlformats.org/drawingml/2006/main">
            <a:off x="3667125" y="2009775"/>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7251F"/>
                </a:solidFill>
                <a:latin typeface="Segoe UI"/>
                <a:ea typeface="Segoe UI"/>
                <a:cs typeface="Segoe UI"/>
              </a:defRPr>
            </a:defPPr>
          </a:lstStyle>
          <a:p xmlns:a="http://schemas.openxmlformats.org/drawingml/2006/main">
            <a:pPr>
              <a:defRPr sz="2400" b="0">
                <a:solidFill>
                  <a:srgbClr val="17251F"/>
                </a:solidFill>
                <a:latin typeface="Segoe UI"/>
                <a:ea typeface="Segoe UI"/>
                <a:cs typeface="Segoe UI"/>
              </a:defRPr>
            </a:pPr>
            <a:r>
              <a:rPr sz="2400" b="0">
                <a:solidFill>
                  <a:srgbClr val="17251F"/>
                </a:solidFill>
                <a:latin typeface="Segoe UI"/>
                <a:ea typeface="Segoe UI"/>
                <a:cs typeface="Segoe UI"/>
              </a:rPr>
              <a:t>Read the transaction or signature</a:t>
            </a:r>
          </a:p>
        </p:txBody>
      </p:sp>
      <p:sp>
        <p:nvSpPr>
          <p:cNvPr id="4" name="Enrich-label">
            <a:extLst xmlns:a="http://schemas.openxmlformats.org/drawingml/2006/main">
              <a:ext uri="{FF2B5EF4-FFF2-40B4-BE49-F238E27FC236}">
                <a16:creationId xmlns:a16="http://schemas.microsoft.com/office/drawing/2014/main" id="{16C20BA5-DE42-4F58-B3E6-46ED696156F1}"/>
              </a:ext>
            </a:extLst>
          </p:cNvPr>
          <p:cNvSpPr>
            <a:spLocks xmlns:a="http://schemas.openxmlformats.org/drawingml/2006/main" noGrp="1"/>
          </p:cNvSpPr>
          <p:nvPr/>
        </p:nvSpPr>
        <p:spPr>
          <a:xfrm xmlns:a="http://schemas.openxmlformats.org/drawingml/2006/main">
            <a:off x="723900" y="32766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16948"/>
                </a:solidFill>
                <a:latin typeface="Segoe UI"/>
                <a:ea typeface="Segoe UI"/>
                <a:cs typeface="Segoe UI"/>
              </a:defRPr>
            </a:defPPr>
          </a:lstStyle>
          <a:p xmlns:a="http://schemas.openxmlformats.org/drawingml/2006/main">
            <a:pPr>
              <a:defRPr sz="2850" b="1">
                <a:solidFill>
                  <a:srgbClr val="116948"/>
                </a:solidFill>
                <a:latin typeface="Segoe UI"/>
                <a:ea typeface="Segoe UI"/>
                <a:cs typeface="Segoe UI"/>
              </a:defRPr>
            </a:pPr>
            <a:r>
              <a:rPr sz="2850" b="1">
                <a:solidFill>
                  <a:srgbClr val="116948"/>
                </a:solidFill>
                <a:latin typeface="Segoe UI"/>
                <a:ea typeface="Segoe UI"/>
                <a:cs typeface="Segoe UI"/>
              </a:rPr>
              <a:t>Enrich</a:t>
            </a:r>
          </a:p>
        </p:txBody>
      </p:sp>
      <p:sp>
        <p:nvSpPr>
          <p:cNvPr id="5" name="Enrich-body">
            <a:extLst xmlns:a="http://schemas.openxmlformats.org/drawingml/2006/main">
              <a:ext uri="{FF2B5EF4-FFF2-40B4-BE49-F238E27FC236}">
                <a16:creationId xmlns:a16="http://schemas.microsoft.com/office/drawing/2014/main" id="{E9E44A09-C43B-4F5D-81EA-B38C19386ACE}"/>
              </a:ext>
            </a:extLst>
          </p:cNvPr>
          <p:cNvSpPr>
            <a:spLocks xmlns:a="http://schemas.openxmlformats.org/drawingml/2006/main" noGrp="1"/>
          </p:cNvSpPr>
          <p:nvPr/>
        </p:nvSpPr>
        <p:spPr>
          <a:xfrm xmlns:a="http://schemas.openxmlformats.org/drawingml/2006/main">
            <a:off x="3667125" y="3305175"/>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7251F"/>
                </a:solidFill>
                <a:latin typeface="Segoe UI"/>
                <a:ea typeface="Segoe UI"/>
                <a:cs typeface="Segoe UI"/>
              </a:defRPr>
            </a:defPPr>
          </a:lstStyle>
          <a:p xmlns:a="http://schemas.openxmlformats.org/drawingml/2006/main">
            <a:pPr>
              <a:defRPr sz="2400" b="0">
                <a:solidFill>
                  <a:srgbClr val="17251F"/>
                </a:solidFill>
                <a:latin typeface="Segoe UI"/>
                <a:ea typeface="Segoe UI"/>
                <a:cs typeface="Segoe UI"/>
              </a:defRPr>
            </a:pPr>
            <a:r>
              <a:rPr sz="2400" b="0">
                <a:solidFill>
                  <a:srgbClr val="17251F"/>
                </a:solidFill>
                <a:latin typeface="Segoe UI"/>
                <a:ea typeface="Segoe UI"/>
                <a:cs typeface="Segoe UI"/>
              </a:rPr>
              <a:t>Check relevant public chain information</a:t>
            </a:r>
          </a:p>
        </p:txBody>
      </p:sp>
      <p:sp>
        <p:nvSpPr>
          <p:cNvPr id="6" name="Decide-label">
            <a:extLst xmlns:a="http://schemas.openxmlformats.org/drawingml/2006/main">
              <a:ext uri="{FF2B5EF4-FFF2-40B4-BE49-F238E27FC236}">
                <a16:creationId xmlns:a16="http://schemas.microsoft.com/office/drawing/2014/main" id="{1589C14F-2BCE-4B6C-A6C4-EB6F6CA075F8}"/>
              </a:ext>
            </a:extLst>
          </p:cNvPr>
          <p:cNvSpPr>
            <a:spLocks xmlns:a="http://schemas.openxmlformats.org/drawingml/2006/main" noGrp="1"/>
          </p:cNvSpPr>
          <p:nvPr/>
        </p:nvSpPr>
        <p:spPr>
          <a:xfrm xmlns:a="http://schemas.openxmlformats.org/drawingml/2006/main">
            <a:off x="723900" y="45720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16948"/>
                </a:solidFill>
                <a:latin typeface="Segoe UI"/>
                <a:ea typeface="Segoe UI"/>
                <a:cs typeface="Segoe UI"/>
              </a:defRPr>
            </a:defPPr>
          </a:lstStyle>
          <a:p xmlns:a="http://schemas.openxmlformats.org/drawingml/2006/main">
            <a:pPr>
              <a:defRPr sz="2850" b="1">
                <a:solidFill>
                  <a:srgbClr val="116948"/>
                </a:solidFill>
                <a:latin typeface="Segoe UI"/>
                <a:ea typeface="Segoe UI"/>
                <a:cs typeface="Segoe UI"/>
              </a:defRPr>
            </a:pPr>
            <a:r>
              <a:rPr sz="2850" b="1">
                <a:solidFill>
                  <a:srgbClr val="116948"/>
                </a:solidFill>
                <a:latin typeface="Segoe UI"/>
                <a:ea typeface="Segoe UI"/>
                <a:cs typeface="Segoe UI"/>
              </a:rPr>
              <a:t>Decide</a:t>
            </a:r>
          </a:p>
        </p:txBody>
      </p:sp>
      <p:sp>
        <p:nvSpPr>
          <p:cNvPr id="7" name="Decide-body">
            <a:extLst xmlns:a="http://schemas.openxmlformats.org/drawingml/2006/main">
              <a:ext uri="{FF2B5EF4-FFF2-40B4-BE49-F238E27FC236}">
                <a16:creationId xmlns:a16="http://schemas.microsoft.com/office/drawing/2014/main" id="{83296898-5439-49B3-B695-013EE00E4A56}"/>
              </a:ext>
            </a:extLst>
          </p:cNvPr>
          <p:cNvSpPr>
            <a:spLocks xmlns:a="http://schemas.openxmlformats.org/drawingml/2006/main" noGrp="1"/>
          </p:cNvSpPr>
          <p:nvPr/>
        </p:nvSpPr>
        <p:spPr>
          <a:xfrm xmlns:a="http://schemas.openxmlformats.org/drawingml/2006/main">
            <a:off x="3667125" y="4600575"/>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7251F"/>
                </a:solidFill>
                <a:latin typeface="Segoe UI"/>
                <a:ea typeface="Segoe UI"/>
                <a:cs typeface="Segoe UI"/>
              </a:defRPr>
            </a:defPPr>
          </a:lstStyle>
          <a:p xmlns:a="http://schemas.openxmlformats.org/drawingml/2006/main">
            <a:pPr>
              <a:defRPr sz="2400" b="0">
                <a:solidFill>
                  <a:srgbClr val="17251F"/>
                </a:solidFill>
                <a:latin typeface="Segoe UI"/>
                <a:ea typeface="Segoe UI"/>
                <a:cs typeface="Segoe UI"/>
              </a:defRPr>
            </a:pPr>
            <a:r>
              <a:rPr sz="2400" b="0">
                <a:solidFill>
                  <a:srgbClr val="17251F"/>
                </a:solidFill>
                <a:latin typeface="Segoe UI"/>
                <a:ea typeface="Segoe UI"/>
                <a:cs typeface="Segoe UI"/>
              </a:rPr>
              <a:t>Show the rules behind the verdict</a:t>
            </a:r>
          </a:p>
        </p:txBody>
      </p:sp>
      <p:sp>
        <p:nvSpPr>
          <p:cNvPr id="8" name="AI-disabled">
            <a:extLst xmlns:a="http://schemas.openxmlformats.org/drawingml/2006/main">
              <a:ext uri="{FF2B5EF4-FFF2-40B4-BE49-F238E27FC236}">
                <a16:creationId xmlns:a16="http://schemas.microsoft.com/office/drawing/2014/main" id="{E29AA60E-489C-4126-9DAD-10A71F74B976}"/>
              </a:ext>
            </a:extLst>
          </p:cNvPr>
          <p:cNvSpPr>
            <a:spLocks xmlns:a="http://schemas.openxmlformats.org/drawingml/2006/main" noGrp="1"/>
          </p:cNvSpPr>
          <p:nvPr/>
        </p:nvSpPr>
        <p:spPr>
          <a:xfrm xmlns:a="http://schemas.openxmlformats.org/drawingml/2006/main">
            <a:off x="723900" y="595312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65B"/>
                </a:solidFill>
                <a:latin typeface="Segoe UI"/>
                <a:ea typeface="Segoe UI"/>
                <a:cs typeface="Segoe UI"/>
              </a:defRPr>
            </a:defPPr>
          </a:lstStyle>
          <a:p xmlns:a="http://schemas.openxmlformats.org/drawingml/2006/main">
            <a:pPr>
              <a:defRPr sz="1725" b="0">
                <a:solidFill>
                  <a:srgbClr val="52665B"/>
                </a:solidFill>
                <a:latin typeface="Segoe UI"/>
                <a:ea typeface="Segoe UI"/>
                <a:cs typeface="Segoe UI"/>
              </a:defRPr>
            </a:pPr>
            <a:r>
              <a:rPr sz="1725" b="0">
                <a:solidFill>
                  <a:srgbClr val="52665B"/>
                </a:solidFill>
                <a:latin typeface="Segoe UI"/>
                <a:ea typeface="Segoe UI"/>
                <a:cs typeface="Segoe UI"/>
              </a:rPr>
              <a:t>AI rewording is disabled in the public build</a:t>
            </a:r>
          </a:p>
        </p:txBody>
      </p:sp>
      <p:sp>
        <p:nvSpPr>
          <p:cNvPr id="9" name="slide-number">
            <a:extLst xmlns:a="http://schemas.openxmlformats.org/drawingml/2006/main">
              <a:ext uri="{FF2B5EF4-FFF2-40B4-BE49-F238E27FC236}">
                <a16:creationId xmlns:a16="http://schemas.microsoft.com/office/drawing/2014/main" id="{6C7B0FAE-19AD-4333-9C0B-9A39D78CFA07}"/>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65B"/>
                </a:solidFill>
                <a:latin typeface="Segoe UI"/>
                <a:ea typeface="Segoe UI"/>
                <a:cs typeface="Segoe UI"/>
              </a:defRPr>
            </a:defPPr>
          </a:lstStyle>
          <a:p xmlns:a="http://schemas.openxmlformats.org/drawingml/2006/main">
            <a:pPr>
              <a:defRPr sz="1350" b="0">
                <a:solidFill>
                  <a:srgbClr val="52665B"/>
                </a:solidFill>
                <a:latin typeface="Segoe UI"/>
                <a:ea typeface="Segoe UI"/>
                <a:cs typeface="Segoe UI"/>
              </a:defRPr>
            </a:pPr>
            <a:r>
              <a:rPr sz="1350" b="0">
                <a:solidFill>
                  <a:srgbClr val="52665B"/>
                </a:solidFill>
                <a:latin typeface="Segoe UI"/>
                <a:ea typeface="Segoe UI"/>
                <a:cs typeface="Segoe UI"/>
              </a:rPr>
              <a:t>04</a:t>
            </a:r>
          </a:p>
        </p:txBody>
      </p:sp>
    </p:spTree>
    <p:extLst>
      <p:ext uri="{BB962C8B-B14F-4D97-AF65-F5344CB8AC3E}">
        <p14:creationId xmlns:p14="http://schemas.microsoft.com/office/powerpoint/2010/main" val="1425002926"/>
      </p:ext>
    </p:extLst>
  </p:cSld>
</p:sld>
</file>

<file path=ppt/slides/slide5.xml><?xml version="1.0" encoding="utf-8"?>
<p:sld xmlns:p="http://schemas.openxmlformats.org/presentationml/2006/main">
  <p:cSld>
    <p:bg>
      <p:bgPr>
        <a:solidFill xmlns:a="http://schemas.openxmlformats.org/drawingml/2006/main">
          <a:srgbClr val="101D1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AB757EA-655B-4822-BF5F-49770D5223D0}"/>
              </a:ext>
            </a:extLst>
          </p:cNvPr>
          <p:cNvSpPr>
            <a:spLocks xmlns:a="http://schemas.openxmlformats.org/drawingml/2006/main" noGrp="1"/>
          </p:cNvSpPr>
          <p:nvPr/>
        </p:nvSpPr>
        <p:spPr>
          <a:xfrm xmlns:a="http://schemas.openxmlformats.org/drawingml/2006/main">
            <a:off x="685800" y="5334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EDEFE8"/>
                </a:solidFill>
                <a:latin typeface="Segoe UI"/>
                <a:ea typeface="Segoe UI"/>
                <a:cs typeface="Segoe UI"/>
              </a:defRPr>
            </a:defPPr>
          </a:lstStyle>
          <a:p xmlns:a="http://schemas.openxmlformats.org/drawingml/2006/main">
            <a:pPr>
              <a:defRPr sz="4500" b="1">
                <a:solidFill>
                  <a:srgbClr val="EDEFE8"/>
                </a:solidFill>
                <a:latin typeface="Segoe UI"/>
                <a:ea typeface="Segoe UI"/>
                <a:cs typeface="Segoe UI"/>
              </a:defRPr>
            </a:pPr>
            <a:r>
              <a:rPr sz="4500" b="1">
                <a:solidFill>
                  <a:srgbClr val="EDEFE8"/>
                </a:solidFill>
                <a:latin typeface="Segoe UI"/>
                <a:ea typeface="Segoe UI"/>
                <a:cs typeface="Segoe UI"/>
              </a:rPr>
              <a:t>The event work</a:t>
            </a:r>
          </a:p>
        </p:txBody>
      </p:sp>
      <p:sp>
        <p:nvSpPr>
          <p:cNvPr id="2" name="earlier-label">
            <a:extLst xmlns:a="http://schemas.openxmlformats.org/drawingml/2006/main">
              <a:ext uri="{FF2B5EF4-FFF2-40B4-BE49-F238E27FC236}">
                <a16:creationId xmlns:a16="http://schemas.microsoft.com/office/drawing/2014/main" id="{165D5329-8630-404A-B762-69D9EAC68198}"/>
              </a:ext>
            </a:extLst>
          </p:cNvPr>
          <p:cNvSpPr>
            <a:spLocks xmlns:a="http://schemas.openxmlformats.org/drawingml/2006/main" noGrp="1"/>
          </p:cNvSpPr>
          <p:nvPr/>
        </p:nvSpPr>
        <p:spPr>
          <a:xfrm xmlns:a="http://schemas.openxmlformats.org/drawingml/2006/main">
            <a:off x="723900" y="19335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EDEFE8"/>
                </a:solidFill>
                <a:latin typeface="Segoe UI"/>
                <a:ea typeface="Segoe UI"/>
                <a:cs typeface="Segoe UI"/>
              </a:defRPr>
            </a:defPPr>
          </a:lstStyle>
          <a:p xmlns:a="http://schemas.openxmlformats.org/drawingml/2006/main">
            <a:pPr>
              <a:defRPr sz="2400" b="1">
                <a:solidFill>
                  <a:srgbClr val="EDEFE8"/>
                </a:solidFill>
                <a:latin typeface="Segoe UI"/>
                <a:ea typeface="Segoe UI"/>
                <a:cs typeface="Segoe UI"/>
              </a:defRPr>
            </a:pPr>
            <a:r>
              <a:rPr sz="2400" b="1">
                <a:solidFill>
                  <a:srgbClr val="EDEFE8"/>
                </a:solidFill>
                <a:latin typeface="Segoe UI"/>
                <a:ea typeface="Segoe UI"/>
                <a:cs typeface="Segoe UI"/>
              </a:rPr>
              <a:t>September prototype</a:t>
            </a:r>
          </a:p>
        </p:txBody>
      </p:sp>
      <p:sp>
        <p:nvSpPr>
          <p:cNvPr id="3" name="earlier">
            <a:extLst xmlns:a="http://schemas.openxmlformats.org/drawingml/2006/main">
              <a:ext uri="{FF2B5EF4-FFF2-40B4-BE49-F238E27FC236}">
                <a16:creationId xmlns:a16="http://schemas.microsoft.com/office/drawing/2014/main" id="{BB32DF71-3E91-4A8D-97A9-41AB8F247DE8}"/>
              </a:ext>
            </a:extLst>
          </p:cNvPr>
          <p:cNvSpPr>
            <a:spLocks xmlns:a="http://schemas.openxmlformats.org/drawingml/2006/main" noGrp="1"/>
          </p:cNvSpPr>
          <p:nvPr/>
        </p:nvSpPr>
        <p:spPr>
          <a:xfrm xmlns:a="http://schemas.openxmlformats.org/drawingml/2006/main">
            <a:off x="723900" y="280035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EDEFE8"/>
                </a:solidFill>
                <a:latin typeface="Segoe UI"/>
                <a:ea typeface="Segoe UI"/>
                <a:cs typeface="Segoe UI"/>
              </a:defRPr>
            </a:defPPr>
          </a:lstStyle>
          <a:p xmlns:a="http://schemas.openxmlformats.org/drawingml/2006/main">
            <a:pPr>
              <a:defRPr sz="2250" b="0">
                <a:solidFill>
                  <a:srgbClr val="EDEFE8"/>
                </a:solidFill>
                <a:latin typeface="Segoe UI"/>
                <a:ea typeface="Segoe UI"/>
                <a:cs typeface="Segoe UI"/>
              </a:defRPr>
            </a:pPr>
            <a:r>
              <a:rPr sz="2250" b="0">
                <a:solidFill>
                  <a:srgbClr val="EDEFE8"/>
                </a:solidFill>
                <a:latin typeface="Segoe UI"/>
                <a:ea typeface="Segoe UI"/>
                <a:cs typeface="Segoe UI"/>
              </a:rPr>
              <a:t>Provider interception</a:t>
            </a:r>
          </a:p>
          <a:p xmlns:a="http://schemas.openxmlformats.org/drawingml/2006/main">
            <a:pPr>
              <a:defRPr sz="2250" b="0">
                <a:solidFill>
                  <a:srgbClr val="EDEFE8"/>
                </a:solidFill>
                <a:latin typeface="Segoe UI"/>
                <a:ea typeface="Segoe UI"/>
                <a:cs typeface="Segoe UI"/>
              </a:defRPr>
            </a:pPr>
            <a:r>
              <a:rPr sz="2250" b="0">
                <a:solidFill>
                  <a:srgbClr val="EDEFE8"/>
                </a:solidFill>
                <a:latin typeface="Segoe UI"/>
                <a:ea typeface="Segoe UI"/>
                <a:cs typeface="Segoe UI"/>
              </a:rPr>
              <a:t>Decoding and risk rules</a:t>
            </a:r>
          </a:p>
          <a:p xmlns:a="http://schemas.openxmlformats.org/drawingml/2006/main">
            <a:pPr>
              <a:defRPr sz="2250" b="0">
                <a:solidFill>
                  <a:srgbClr val="EDEFE8"/>
                </a:solidFill>
                <a:latin typeface="Segoe UI"/>
                <a:ea typeface="Segoe UI"/>
                <a:cs typeface="Segoe UI"/>
              </a:defRPr>
            </a:pPr>
            <a:r>
              <a:rPr sz="2250" b="0">
                <a:solidFill>
                  <a:srgbClr val="EDEFE8"/>
                </a:solidFill>
                <a:latin typeface="Segoe UI"/>
                <a:ea typeface="Segoe UI"/>
                <a:cs typeface="Segoe UI"/>
              </a:rPr>
              <a:t>Revoke and community feed</a:t>
            </a:r>
          </a:p>
        </p:txBody>
      </p:sp>
      <p:sp>
        <p:nvSpPr>
          <p:cNvPr id="4" name="new-label">
            <a:extLst xmlns:a="http://schemas.openxmlformats.org/drawingml/2006/main">
              <a:ext uri="{FF2B5EF4-FFF2-40B4-BE49-F238E27FC236}">
                <a16:creationId xmlns:a16="http://schemas.microsoft.com/office/drawing/2014/main" id="{74C3FCCB-FB41-4E3A-93F8-387446DF0905}"/>
              </a:ext>
            </a:extLst>
          </p:cNvPr>
          <p:cNvSpPr>
            <a:spLocks xmlns:a="http://schemas.openxmlformats.org/drawingml/2006/main" noGrp="1"/>
          </p:cNvSpPr>
          <p:nvPr/>
        </p:nvSpPr>
        <p:spPr>
          <a:xfrm xmlns:a="http://schemas.openxmlformats.org/drawingml/2006/main">
            <a:off x="6477000" y="19335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FE0B2"/>
                </a:solidFill>
                <a:latin typeface="Segoe UI"/>
                <a:ea typeface="Segoe UI"/>
                <a:cs typeface="Segoe UI"/>
              </a:defRPr>
            </a:defPPr>
          </a:lstStyle>
          <a:p xmlns:a="http://schemas.openxmlformats.org/drawingml/2006/main">
            <a:pPr>
              <a:defRPr sz="2400" b="1">
                <a:solidFill>
                  <a:srgbClr val="8FE0B2"/>
                </a:solidFill>
                <a:latin typeface="Segoe UI"/>
                <a:ea typeface="Segoe UI"/>
                <a:cs typeface="Segoe UI"/>
              </a:defRPr>
            </a:pPr>
            <a:r>
              <a:rPr sz="2400" b="1">
                <a:solidFill>
                  <a:srgbClr val="8FE0B2"/>
                </a:solidFill>
                <a:latin typeface="Segoe UI"/>
                <a:ea typeface="Segoe UI"/>
                <a:cs typeface="Segoe UI"/>
              </a:rPr>
              <a:t>October additions</a:t>
            </a:r>
          </a:p>
        </p:txBody>
      </p:sp>
      <p:sp>
        <p:nvSpPr>
          <p:cNvPr id="5" name="new">
            <a:extLst xmlns:a="http://schemas.openxmlformats.org/drawingml/2006/main">
              <a:ext uri="{FF2B5EF4-FFF2-40B4-BE49-F238E27FC236}">
                <a16:creationId xmlns:a16="http://schemas.microsoft.com/office/drawing/2014/main" id="{65B86A6E-E1DC-4F01-821C-BBE7AF92E2EA}"/>
              </a:ext>
            </a:extLst>
          </p:cNvPr>
          <p:cNvSpPr>
            <a:spLocks xmlns:a="http://schemas.openxmlformats.org/drawingml/2006/main" noGrp="1"/>
          </p:cNvSpPr>
          <p:nvPr/>
        </p:nvSpPr>
        <p:spPr>
          <a:xfrm xmlns:a="http://schemas.openxmlformats.org/drawingml/2006/main">
            <a:off x="6477000" y="280035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EDEFE8"/>
                </a:solidFill>
                <a:latin typeface="Segoe UI"/>
                <a:ea typeface="Segoe UI"/>
                <a:cs typeface="Segoe UI"/>
              </a:defRPr>
            </a:defPPr>
          </a:lstStyle>
          <a:p xmlns:a="http://schemas.openxmlformats.org/drawingml/2006/main">
            <a:pPr>
              <a:defRPr sz="2250" b="0">
                <a:solidFill>
                  <a:srgbClr val="EDEFE8"/>
                </a:solidFill>
                <a:latin typeface="Segoe UI"/>
                <a:ea typeface="Segoe UI"/>
                <a:cs typeface="Segoe UI"/>
              </a:defRPr>
            </a:pPr>
            <a:r>
              <a:rPr sz="2250" b="0">
                <a:solidFill>
                  <a:srgbClr val="EDEFE8"/>
                </a:solidFill>
                <a:latin typeface="Segoe UI"/>
                <a:ea typeface="Segoe UI"/>
                <a:cs typeface="Segoe UI"/>
              </a:rPr>
              <a:t>Ethereum mainnet metadata</a:t>
            </a:r>
          </a:p>
          <a:p xmlns:a="http://schemas.openxmlformats.org/drawingml/2006/main">
            <a:pPr>
              <a:defRPr sz="2250" b="0">
                <a:solidFill>
                  <a:srgbClr val="EDEFE8"/>
                </a:solidFill>
                <a:latin typeface="Segoe UI"/>
                <a:ea typeface="Segoe UI"/>
                <a:cs typeface="Segoe UI"/>
              </a:defRPr>
            </a:pPr>
            <a:r>
              <a:rPr sz="2250" b="0">
                <a:solidFill>
                  <a:srgbClr val="EDEFE8"/>
                </a:solidFill>
                <a:latin typeface="Segoe UI"/>
                <a:ea typeface="Segoe UI"/>
                <a:cs typeface="Segoe UI"/>
              </a:rPr>
              <a:t>Warnings during RPC outages</a:t>
            </a:r>
          </a:p>
          <a:p xmlns:a="http://schemas.openxmlformats.org/drawingml/2006/main">
            <a:pPr>
              <a:defRPr sz="2250" b="0">
                <a:solidFill>
                  <a:srgbClr val="EDEFE8"/>
                </a:solidFill>
                <a:latin typeface="Segoe UI"/>
                <a:ea typeface="Segoe UI"/>
                <a:cs typeface="Segoe UI"/>
              </a:defRPr>
            </a:pPr>
            <a:r>
              <a:rPr sz="2250" b="0">
                <a:solidFill>
                  <a:srgbClr val="EDEFE8"/>
                </a:solidFill>
                <a:latin typeface="Segoe UI"/>
                <a:ea typeface="Segoe UI"/>
                <a:cs typeface="Segoe UI"/>
              </a:rPr>
              <a:t>Walkthrough without a wallet</a:t>
            </a:r>
          </a:p>
        </p:txBody>
      </p:sp>
      <p:sp>
        <p:nvSpPr>
          <p:cNvPr id="6" name="disclosure">
            <a:extLst xmlns:a="http://schemas.openxmlformats.org/drawingml/2006/main">
              <a:ext uri="{FF2B5EF4-FFF2-40B4-BE49-F238E27FC236}">
                <a16:creationId xmlns:a16="http://schemas.microsoft.com/office/drawing/2014/main" id="{9B90A79C-EBCC-4924-9D99-92A9DF4320FC}"/>
              </a:ext>
            </a:extLst>
          </p:cNvPr>
          <p:cNvSpPr>
            <a:spLocks xmlns:a="http://schemas.openxmlformats.org/drawingml/2006/main" noGrp="1"/>
          </p:cNvSpPr>
          <p:nvPr/>
        </p:nvSpPr>
        <p:spPr>
          <a:xfrm xmlns:a="http://schemas.openxmlformats.org/drawingml/2006/main">
            <a:off x="723900" y="59055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8FE0B2"/>
                </a:solidFill>
                <a:latin typeface="Segoe UI"/>
                <a:ea typeface="Segoe UI"/>
                <a:cs typeface="Segoe UI"/>
              </a:defRPr>
            </a:defPPr>
          </a:lstStyle>
          <a:p xmlns:a="http://schemas.openxmlformats.org/drawingml/2006/main">
            <a:pPr>
              <a:defRPr sz="1650" b="0">
                <a:solidFill>
                  <a:srgbClr val="8FE0B2"/>
                </a:solidFill>
                <a:latin typeface="Segoe UI"/>
                <a:ea typeface="Segoe UI"/>
                <a:cs typeface="Segoe UI"/>
              </a:defRPr>
            </a:pPr>
            <a:r>
              <a:rPr sz="1650" b="0">
                <a:solidFill>
                  <a:srgbClr val="8FE0B2"/>
                </a:solidFill>
                <a:latin typeface="Segoe UI"/>
                <a:ea typeface="Segoe UI"/>
                <a:cs typeface="Segoe UI"/>
              </a:rPr>
              <a:t>Earlier work is disclosed. Mainnet validation used public reads.</a:t>
            </a:r>
          </a:p>
        </p:txBody>
      </p:sp>
      <p:sp>
        <p:nvSpPr>
          <p:cNvPr id="7" name="slide-number">
            <a:extLst xmlns:a="http://schemas.openxmlformats.org/drawingml/2006/main">
              <a:ext uri="{FF2B5EF4-FFF2-40B4-BE49-F238E27FC236}">
                <a16:creationId xmlns:a16="http://schemas.microsoft.com/office/drawing/2014/main" id="{219C8D62-A0A0-4C5F-97E8-78B3EFB89C0C}"/>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8FE0B2"/>
                </a:solidFill>
                <a:latin typeface="Segoe UI"/>
                <a:ea typeface="Segoe UI"/>
                <a:cs typeface="Segoe UI"/>
              </a:defRPr>
            </a:defPPr>
          </a:lstStyle>
          <a:p xmlns:a="http://schemas.openxmlformats.org/drawingml/2006/main">
            <a:pPr>
              <a:defRPr sz="1350" b="0">
                <a:solidFill>
                  <a:srgbClr val="8FE0B2"/>
                </a:solidFill>
                <a:latin typeface="Segoe UI"/>
                <a:ea typeface="Segoe UI"/>
                <a:cs typeface="Segoe UI"/>
              </a:defRPr>
            </a:pPr>
            <a:r>
              <a:rPr sz="1350" b="0">
                <a:solidFill>
                  <a:srgbClr val="8FE0B2"/>
                </a:solidFill>
                <a:latin typeface="Segoe UI"/>
                <a:ea typeface="Segoe UI"/>
                <a:cs typeface="Segoe UI"/>
              </a:rPr>
              <a:t>05</a:t>
            </a:r>
          </a:p>
        </p:txBody>
      </p:sp>
    </p:spTree>
    <p:extLst>
      <p:ext uri="{BB962C8B-B14F-4D97-AF65-F5344CB8AC3E}">
        <p14:creationId xmlns:p14="http://schemas.microsoft.com/office/powerpoint/2010/main" val="1884237253"/>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6078F69-A5A5-4824-B734-59CDA4BFB03C}"/>
              </a:ext>
            </a:extLst>
          </p:cNvPr>
          <p:cNvSpPr>
            <a:spLocks xmlns:a="http://schemas.openxmlformats.org/drawingml/2006/main" noGrp="1"/>
          </p:cNvSpPr>
          <p:nvPr/>
        </p:nvSpPr>
        <p:spPr>
          <a:xfrm xmlns:a="http://schemas.openxmlformats.org/drawingml/2006/main">
            <a:off x="685800" y="781050"/>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17251F"/>
                </a:solidFill>
                <a:latin typeface="Segoe UI"/>
                <a:ea typeface="Segoe UI"/>
                <a:cs typeface="Segoe UI"/>
              </a:defRPr>
            </a:defPPr>
          </a:lstStyle>
          <a:p xmlns:a="http://schemas.openxmlformats.org/drawingml/2006/main">
            <a:pPr>
              <a:defRPr sz="5100" b="1">
                <a:solidFill>
                  <a:srgbClr val="17251F"/>
                </a:solidFill>
                <a:latin typeface="Segoe UI"/>
                <a:ea typeface="Segoe UI"/>
                <a:cs typeface="Segoe UI"/>
              </a:defRPr>
            </a:pPr>
            <a:r>
              <a:rPr sz="5100" b="1">
                <a:solidFill>
                  <a:srgbClr val="17251F"/>
                </a:solidFill>
                <a:latin typeface="Segoe UI"/>
                <a:ea typeface="Segoe UI"/>
                <a:cs typeface="Segoe UI"/>
              </a:rPr>
              <a:t>Free for users.</a:t>
            </a:r>
          </a:p>
          <a:p xmlns:a="http://schemas.openxmlformats.org/drawingml/2006/main">
            <a:pPr>
              <a:defRPr sz="5100" b="1">
                <a:solidFill>
                  <a:srgbClr val="17251F"/>
                </a:solidFill>
                <a:latin typeface="Segoe UI"/>
                <a:ea typeface="Segoe UI"/>
                <a:cs typeface="Segoe UI"/>
              </a:defRPr>
            </a:pPr>
            <a:r>
              <a:rPr sz="5100" b="1">
                <a:solidFill>
                  <a:srgbClr val="17251F"/>
                </a:solidFill>
                <a:latin typeface="Segoe UI"/>
                <a:ea typeface="Segoe UI"/>
                <a:cs typeface="Segoe UI"/>
              </a:rPr>
              <a:t>An SDK for teams.</a:t>
            </a:r>
          </a:p>
        </p:txBody>
      </p:sp>
      <p:sp>
        <p:nvSpPr>
          <p:cNvPr id="2" name="open-label">
            <a:extLst xmlns:a="http://schemas.openxmlformats.org/drawingml/2006/main">
              <a:ext uri="{FF2B5EF4-FFF2-40B4-BE49-F238E27FC236}">
                <a16:creationId xmlns:a16="http://schemas.microsoft.com/office/drawing/2014/main" id="{776984A6-F3B6-4AFD-934E-91B4A88405D4}"/>
              </a:ext>
            </a:extLst>
          </p:cNvPr>
          <p:cNvSpPr>
            <a:spLocks xmlns:a="http://schemas.openxmlformats.org/drawingml/2006/main" noGrp="1"/>
          </p:cNvSpPr>
          <p:nvPr/>
        </p:nvSpPr>
        <p:spPr>
          <a:xfrm xmlns:a="http://schemas.openxmlformats.org/drawingml/2006/main">
            <a:off x="723900" y="32575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16948"/>
                </a:solidFill>
                <a:latin typeface="Segoe UI"/>
                <a:ea typeface="Segoe UI"/>
                <a:cs typeface="Segoe UI"/>
              </a:defRPr>
            </a:defPPr>
          </a:lstStyle>
          <a:p xmlns:a="http://schemas.openxmlformats.org/drawingml/2006/main">
            <a:pPr>
              <a:defRPr sz="2325" b="1">
                <a:solidFill>
                  <a:srgbClr val="116948"/>
                </a:solidFill>
                <a:latin typeface="Segoe UI"/>
                <a:ea typeface="Segoe UI"/>
                <a:cs typeface="Segoe UI"/>
              </a:defRPr>
            </a:pPr>
            <a:r>
              <a:rPr sz="2325" b="1">
                <a:solidFill>
                  <a:srgbClr val="116948"/>
                </a:solidFill>
                <a:latin typeface="Segoe UI"/>
                <a:ea typeface="Segoe UI"/>
                <a:cs typeface="Segoe UI"/>
              </a:rPr>
              <a:t>Open source extension</a:t>
            </a:r>
          </a:p>
        </p:txBody>
      </p:sp>
      <p:sp>
        <p:nvSpPr>
          <p:cNvPr id="3" name="open-body">
            <a:extLst xmlns:a="http://schemas.openxmlformats.org/drawingml/2006/main">
              <a:ext uri="{FF2B5EF4-FFF2-40B4-BE49-F238E27FC236}">
                <a16:creationId xmlns:a16="http://schemas.microsoft.com/office/drawing/2014/main" id="{279241F9-0859-4D4F-8785-7AA1F41913D0}"/>
              </a:ext>
            </a:extLst>
          </p:cNvPr>
          <p:cNvSpPr>
            <a:spLocks xmlns:a="http://schemas.openxmlformats.org/drawingml/2006/main" noGrp="1"/>
          </p:cNvSpPr>
          <p:nvPr/>
        </p:nvSpPr>
        <p:spPr>
          <a:xfrm xmlns:a="http://schemas.openxmlformats.org/drawingml/2006/main">
            <a:off x="723900" y="40005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51F"/>
                </a:solidFill>
                <a:latin typeface="Segoe UI"/>
                <a:ea typeface="Segoe UI"/>
                <a:cs typeface="Segoe UI"/>
              </a:defRPr>
            </a:defPPr>
          </a:lstStyle>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Individuals can inspect the rules</a:t>
            </a:r>
          </a:p>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and try the warning layer.</a:t>
            </a:r>
          </a:p>
        </p:txBody>
      </p:sp>
      <p:sp>
        <p:nvSpPr>
          <p:cNvPr id="4" name="paid-label">
            <a:extLst xmlns:a="http://schemas.openxmlformats.org/drawingml/2006/main">
              <a:ext uri="{FF2B5EF4-FFF2-40B4-BE49-F238E27FC236}">
                <a16:creationId xmlns:a16="http://schemas.microsoft.com/office/drawing/2014/main" id="{B7094145-02CF-4AF5-B25C-9286B4D0F8A4}"/>
              </a:ext>
            </a:extLst>
          </p:cNvPr>
          <p:cNvSpPr>
            <a:spLocks xmlns:a="http://schemas.openxmlformats.org/drawingml/2006/main" noGrp="1"/>
          </p:cNvSpPr>
          <p:nvPr/>
        </p:nvSpPr>
        <p:spPr>
          <a:xfrm xmlns:a="http://schemas.openxmlformats.org/drawingml/2006/main">
            <a:off x="6477000" y="3257550"/>
            <a:ext cx="500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16948"/>
                </a:solidFill>
                <a:latin typeface="Segoe UI"/>
                <a:ea typeface="Segoe UI"/>
                <a:cs typeface="Segoe UI"/>
              </a:defRPr>
            </a:defPPr>
          </a:lstStyle>
          <a:p xmlns:a="http://schemas.openxmlformats.org/drawingml/2006/main">
            <a:pPr>
              <a:defRPr sz="2325" b="1">
                <a:solidFill>
                  <a:srgbClr val="116948"/>
                </a:solidFill>
                <a:latin typeface="Segoe UI"/>
                <a:ea typeface="Segoe UI"/>
                <a:cs typeface="Segoe UI"/>
              </a:defRPr>
            </a:pPr>
            <a:r>
              <a:rPr sz="2325" b="1">
                <a:solidFill>
                  <a:srgbClr val="116948"/>
                </a:solidFill>
                <a:latin typeface="Segoe UI"/>
                <a:ea typeface="Segoe UI"/>
                <a:cs typeface="Segoe UI"/>
              </a:rPr>
              <a:t>Proposed paid integration</a:t>
            </a:r>
          </a:p>
        </p:txBody>
      </p:sp>
      <p:sp>
        <p:nvSpPr>
          <p:cNvPr id="5" name="paid-body">
            <a:extLst xmlns:a="http://schemas.openxmlformats.org/drawingml/2006/main">
              <a:ext uri="{FF2B5EF4-FFF2-40B4-BE49-F238E27FC236}">
                <a16:creationId xmlns:a16="http://schemas.microsoft.com/office/drawing/2014/main" id="{E956CF5A-DB2C-4AA3-AFD2-9A0EAE879672}"/>
              </a:ext>
            </a:extLst>
          </p:cNvPr>
          <p:cNvSpPr>
            <a:spLocks xmlns:a="http://schemas.openxmlformats.org/drawingml/2006/main" noGrp="1"/>
          </p:cNvSpPr>
          <p:nvPr/>
        </p:nvSpPr>
        <p:spPr>
          <a:xfrm xmlns:a="http://schemas.openxmlformats.org/drawingml/2006/main">
            <a:off x="6477000" y="4000500"/>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51F"/>
                </a:solidFill>
                <a:latin typeface="Segoe UI"/>
                <a:ea typeface="Segoe UI"/>
                <a:cs typeface="Segoe UI"/>
              </a:defRPr>
            </a:defPPr>
          </a:lstStyle>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Maintained rules, policy controls</a:t>
            </a:r>
          </a:p>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and integration support.</a:t>
            </a:r>
          </a:p>
        </p:txBody>
      </p:sp>
      <p:sp>
        <p:nvSpPr>
          <p:cNvPr id="6" name="validation">
            <a:extLst xmlns:a="http://schemas.openxmlformats.org/drawingml/2006/main">
              <a:ext uri="{FF2B5EF4-FFF2-40B4-BE49-F238E27FC236}">
                <a16:creationId xmlns:a16="http://schemas.microsoft.com/office/drawing/2014/main" id="{08099CAF-D0D8-4561-8CFA-4924D3DEDD80}"/>
              </a:ext>
            </a:extLst>
          </p:cNvPr>
          <p:cNvSpPr>
            <a:spLocks xmlns:a="http://schemas.openxmlformats.org/drawingml/2006/main" noGrp="1"/>
          </p:cNvSpPr>
          <p:nvPr/>
        </p:nvSpPr>
        <p:spPr>
          <a:xfrm xmlns:a="http://schemas.openxmlformats.org/drawingml/2006/main">
            <a:off x="723900" y="5953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65B"/>
                </a:solidFill>
                <a:latin typeface="Segoe UI"/>
                <a:ea typeface="Segoe UI"/>
                <a:cs typeface="Segoe UI"/>
              </a:defRPr>
            </a:defPPr>
          </a:lstStyle>
          <a:p xmlns:a="http://schemas.openxmlformats.org/drawingml/2006/main">
            <a:pPr>
              <a:defRPr sz="1725" b="0">
                <a:solidFill>
                  <a:srgbClr val="52665B"/>
                </a:solidFill>
                <a:latin typeface="Segoe UI"/>
                <a:ea typeface="Segoe UI"/>
                <a:cs typeface="Segoe UI"/>
              </a:defRPr>
            </a:pPr>
            <a:r>
              <a:rPr sz="1725" b="0">
                <a:solidFill>
                  <a:srgbClr val="52665B"/>
                </a:solidFill>
                <a:latin typeface="Segoe UI"/>
                <a:ea typeface="Segoe UI"/>
                <a:cs typeface="Segoe UI"/>
              </a:rPr>
              <a:t>Demand and pricing are not yet validated</a:t>
            </a:r>
          </a:p>
        </p:txBody>
      </p:sp>
      <p:sp>
        <p:nvSpPr>
          <p:cNvPr id="7" name="slide-number">
            <a:extLst xmlns:a="http://schemas.openxmlformats.org/drawingml/2006/main">
              <a:ext uri="{FF2B5EF4-FFF2-40B4-BE49-F238E27FC236}">
                <a16:creationId xmlns:a16="http://schemas.microsoft.com/office/drawing/2014/main" id="{CAE7F30D-9D91-4A5A-A6D9-77150B040FF7}"/>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65B"/>
                </a:solidFill>
                <a:latin typeface="Segoe UI"/>
                <a:ea typeface="Segoe UI"/>
                <a:cs typeface="Segoe UI"/>
              </a:defRPr>
            </a:defPPr>
          </a:lstStyle>
          <a:p xmlns:a="http://schemas.openxmlformats.org/drawingml/2006/main">
            <a:pPr>
              <a:defRPr sz="1350" b="0">
                <a:solidFill>
                  <a:srgbClr val="52665B"/>
                </a:solidFill>
                <a:latin typeface="Segoe UI"/>
                <a:ea typeface="Segoe UI"/>
                <a:cs typeface="Segoe UI"/>
              </a:defRPr>
            </a:pPr>
            <a:r>
              <a:rPr sz="1350" b="0">
                <a:solidFill>
                  <a:srgbClr val="52665B"/>
                </a:solidFill>
                <a:latin typeface="Segoe UI"/>
                <a:ea typeface="Segoe UI"/>
                <a:cs typeface="Segoe UI"/>
              </a:rPr>
              <a:t>06</a:t>
            </a:r>
          </a:p>
        </p:txBody>
      </p:sp>
    </p:spTree>
    <p:extLst>
      <p:ext uri="{BB962C8B-B14F-4D97-AF65-F5344CB8AC3E}">
        <p14:creationId xmlns:p14="http://schemas.microsoft.com/office/powerpoint/2010/main" val="1425711328"/>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DF659AE-700C-42FA-8E83-131A9E063B68}"/>
              </a:ext>
            </a:extLst>
          </p:cNvPr>
          <p:cNvSpPr>
            <a:spLocks xmlns:a="http://schemas.openxmlformats.org/drawingml/2006/main" noGrp="1"/>
          </p:cNvSpPr>
          <p:nvPr/>
        </p:nvSpPr>
        <p:spPr>
          <a:xfrm xmlns:a="http://schemas.openxmlformats.org/drawingml/2006/main">
            <a:off x="685800" y="6191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75" b="1">
                <a:solidFill>
                  <a:srgbClr val="17251F"/>
                </a:solidFill>
                <a:latin typeface="Segoe UI"/>
                <a:ea typeface="Segoe UI"/>
                <a:cs typeface="Segoe UI"/>
              </a:defRPr>
            </a:defPPr>
          </a:lstStyle>
          <a:p xmlns:a="http://schemas.openxmlformats.org/drawingml/2006/main">
            <a:pPr>
              <a:defRPr sz="4575" b="1">
                <a:solidFill>
                  <a:srgbClr val="17251F"/>
                </a:solidFill>
                <a:latin typeface="Segoe UI"/>
                <a:ea typeface="Segoe UI"/>
                <a:cs typeface="Segoe UI"/>
              </a:defRPr>
            </a:pPr>
            <a:r>
              <a:rPr sz="4575" b="1">
                <a:solidFill>
                  <a:srgbClr val="17251F"/>
                </a:solidFill>
                <a:latin typeface="Segoe UI"/>
                <a:ea typeface="Segoe UI"/>
                <a:cs typeface="Segoe UI"/>
              </a:rPr>
              <a:t>The next proof is</a:t>
            </a:r>
          </a:p>
          <a:p xmlns:a="http://schemas.openxmlformats.org/drawingml/2006/main">
            <a:pPr>
              <a:defRPr sz="4575" b="1">
                <a:solidFill>
                  <a:srgbClr val="17251F"/>
                </a:solidFill>
                <a:latin typeface="Segoe UI"/>
                <a:ea typeface="Segoe UI"/>
                <a:cs typeface="Segoe UI"/>
              </a:defRPr>
            </a:pPr>
            <a:r>
              <a:rPr sz="4575" b="1">
                <a:solidFill>
                  <a:srgbClr val="17251F"/>
                </a:solidFill>
                <a:latin typeface="Segoe UI"/>
                <a:ea typeface="Segoe UI"/>
                <a:cs typeface="Segoe UI"/>
              </a:rPr>
              <a:t>user understanding</a:t>
            </a:r>
          </a:p>
        </p:txBody>
      </p:sp>
      <p:sp>
        <p:nvSpPr>
          <p:cNvPr id="2" name="test">
            <a:extLst xmlns:a="http://schemas.openxmlformats.org/drawingml/2006/main">
              <a:ext uri="{FF2B5EF4-FFF2-40B4-BE49-F238E27FC236}">
                <a16:creationId xmlns:a16="http://schemas.microsoft.com/office/drawing/2014/main" id="{3EBFB735-BF5B-4695-8DB5-F7BD06D072EA}"/>
              </a:ext>
            </a:extLst>
          </p:cNvPr>
          <p:cNvSpPr>
            <a:spLocks xmlns:a="http://schemas.openxmlformats.org/drawingml/2006/main" noGrp="1"/>
          </p:cNvSpPr>
          <p:nvPr/>
        </p:nvSpPr>
        <p:spPr>
          <a:xfrm xmlns:a="http://schemas.openxmlformats.org/drawingml/2006/main">
            <a:off x="723900" y="300990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16948"/>
                </a:solidFill>
                <a:latin typeface="Segoe UI"/>
                <a:ea typeface="Segoe UI"/>
                <a:cs typeface="Segoe UI"/>
              </a:defRPr>
            </a:defPPr>
          </a:lstStyle>
          <a:p xmlns:a="http://schemas.openxmlformats.org/drawingml/2006/main">
            <a:pPr>
              <a:defRPr sz="3225" b="1">
                <a:solidFill>
                  <a:srgbClr val="116948"/>
                </a:solidFill>
                <a:latin typeface="Segoe UI"/>
                <a:ea typeface="Segoe UI"/>
                <a:cs typeface="Segoe UI"/>
              </a:defRPr>
            </a:pPr>
            <a:r>
              <a:rPr sz="3225" b="1">
                <a:solidFill>
                  <a:srgbClr val="116948"/>
                </a:solidFill>
                <a:latin typeface="Segoe UI"/>
                <a:ea typeface="Segoe UI"/>
                <a:cs typeface="Segoe UI"/>
              </a:rPr>
              <a:t>Observe five people</a:t>
            </a:r>
          </a:p>
          <a:p xmlns:a="http://schemas.openxmlformats.org/drawingml/2006/main">
            <a:pPr>
              <a:defRPr sz="3225" b="1">
                <a:solidFill>
                  <a:srgbClr val="116948"/>
                </a:solidFill>
                <a:latin typeface="Segoe UI"/>
                <a:ea typeface="Segoe UI"/>
                <a:cs typeface="Segoe UI"/>
              </a:defRPr>
            </a:pPr>
            <a:r>
              <a:rPr sz="3225" b="1">
                <a:solidFill>
                  <a:srgbClr val="116948"/>
                </a:solidFill>
                <a:latin typeface="Segoe UI"/>
                <a:ea typeface="Segoe UI"/>
                <a:cs typeface="Segoe UI"/>
              </a:rPr>
              <a:t>using the demo</a:t>
            </a:r>
          </a:p>
        </p:txBody>
      </p:sp>
      <p:sp>
        <p:nvSpPr>
          <p:cNvPr id="3" name="measure">
            <a:extLst xmlns:a="http://schemas.openxmlformats.org/drawingml/2006/main">
              <a:ext uri="{FF2B5EF4-FFF2-40B4-BE49-F238E27FC236}">
                <a16:creationId xmlns:a16="http://schemas.microsoft.com/office/drawing/2014/main" id="{3CC6B7B0-1EED-4D73-A82C-E925E24E59D0}"/>
              </a:ext>
            </a:extLst>
          </p:cNvPr>
          <p:cNvSpPr>
            <a:spLocks xmlns:a="http://schemas.openxmlformats.org/drawingml/2006/main" noGrp="1"/>
          </p:cNvSpPr>
          <p:nvPr/>
        </p:nvSpPr>
        <p:spPr>
          <a:xfrm xmlns:a="http://schemas.openxmlformats.org/drawingml/2006/main">
            <a:off x="6286500" y="30003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51F"/>
                </a:solidFill>
                <a:latin typeface="Segoe UI"/>
                <a:ea typeface="Segoe UI"/>
                <a:cs typeface="Segoe UI"/>
              </a:defRPr>
            </a:defPPr>
          </a:lstStyle>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Can they explain the permission?</a:t>
            </a:r>
          </a:p>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Which warnings confuse them?</a:t>
            </a:r>
          </a:p>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How long does the decision take?</a:t>
            </a:r>
          </a:p>
        </p:txBody>
      </p:sp>
      <p:sp>
        <p:nvSpPr>
          <p:cNvPr id="4" name="partners">
            <a:extLst xmlns:a="http://schemas.openxmlformats.org/drawingml/2006/main">
              <a:ext uri="{FF2B5EF4-FFF2-40B4-BE49-F238E27FC236}">
                <a16:creationId xmlns:a16="http://schemas.microsoft.com/office/drawing/2014/main" id="{DC0E6283-E4FC-45B5-B52A-0E7875B7985C}"/>
              </a:ext>
            </a:extLst>
          </p:cNvPr>
          <p:cNvSpPr>
            <a:spLocks xmlns:a="http://schemas.openxmlformats.org/drawingml/2006/main" noGrp="1"/>
          </p:cNvSpPr>
          <p:nvPr/>
        </p:nvSpPr>
        <p:spPr>
          <a:xfrm xmlns:a="http://schemas.openxmlformats.org/drawingml/2006/main">
            <a:off x="723900" y="5572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51F"/>
                </a:solidFill>
                <a:latin typeface="Segoe UI"/>
                <a:ea typeface="Segoe UI"/>
                <a:cs typeface="Segoe UI"/>
              </a:defRPr>
            </a:defPPr>
          </a:lstStyle>
          <a:p xmlns:a="http://schemas.openxmlformats.org/drawingml/2006/main">
            <a:pPr>
              <a:defRPr sz="2175" b="0">
                <a:solidFill>
                  <a:srgbClr val="17251F"/>
                </a:solidFill>
                <a:latin typeface="Segoe UI"/>
                <a:ea typeface="Segoe UI"/>
                <a:cs typeface="Segoe UI"/>
              </a:defRPr>
            </a:pPr>
            <a:r>
              <a:rPr sz="2175" b="0">
                <a:solidFill>
                  <a:srgbClr val="17251F"/>
                </a:solidFill>
                <a:latin typeface="Segoe UI"/>
                <a:ea typeface="Segoe UI"/>
                <a:cs typeface="Segoe UI"/>
              </a:rPr>
              <a:t>Then seek two wallet or dApp design partners</a:t>
            </a:r>
          </a:p>
        </p:txBody>
      </p:sp>
      <p:sp>
        <p:nvSpPr>
          <p:cNvPr id="5" name="future">
            <a:extLst xmlns:a="http://schemas.openxmlformats.org/drawingml/2006/main">
              <a:ext uri="{FF2B5EF4-FFF2-40B4-BE49-F238E27FC236}">
                <a16:creationId xmlns:a16="http://schemas.microsoft.com/office/drawing/2014/main" id="{FC979728-5E15-4077-820F-B4C2A2530091}"/>
              </a:ext>
            </a:extLst>
          </p:cNvPr>
          <p:cNvSpPr>
            <a:spLocks xmlns:a="http://schemas.openxmlformats.org/drawingml/2006/main" noGrp="1"/>
          </p:cNvSpPr>
          <p:nvPr/>
        </p:nvSpPr>
        <p:spPr>
          <a:xfrm xmlns:a="http://schemas.openxmlformats.org/drawingml/2006/main">
            <a:off x="723900" y="613410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65B"/>
                </a:solidFill>
                <a:latin typeface="Segoe UI"/>
                <a:ea typeface="Segoe UI"/>
                <a:cs typeface="Segoe UI"/>
              </a:defRPr>
            </a:defPPr>
          </a:lstStyle>
          <a:p xmlns:a="http://schemas.openxmlformats.org/drawingml/2006/main">
            <a:pPr>
              <a:defRPr sz="1575" b="0">
                <a:solidFill>
                  <a:srgbClr val="52665B"/>
                </a:solidFill>
                <a:latin typeface="Segoe UI"/>
                <a:ea typeface="Segoe UI"/>
                <a:cs typeface="Segoe UI"/>
              </a:defRPr>
            </a:pPr>
            <a:r>
              <a:rPr sz="1575" b="0">
                <a:solidFill>
                  <a:srgbClr val="52665B"/>
                </a:solidFill>
                <a:latin typeface="Segoe UI"/>
                <a:ea typeface="Segoe UI"/>
                <a:cs typeface="Segoe UI"/>
              </a:rPr>
              <a:t>Planned experiments, not current traction</a:t>
            </a:r>
          </a:p>
        </p:txBody>
      </p:sp>
      <p:sp>
        <p:nvSpPr>
          <p:cNvPr id="6" name="slide-number">
            <a:extLst xmlns:a="http://schemas.openxmlformats.org/drawingml/2006/main">
              <a:ext uri="{FF2B5EF4-FFF2-40B4-BE49-F238E27FC236}">
                <a16:creationId xmlns:a16="http://schemas.microsoft.com/office/drawing/2014/main" id="{58DC7729-AB73-4DB7-8210-12BC14E7E0E9}"/>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65B"/>
                </a:solidFill>
                <a:latin typeface="Segoe UI"/>
                <a:ea typeface="Segoe UI"/>
                <a:cs typeface="Segoe UI"/>
              </a:defRPr>
            </a:defPPr>
          </a:lstStyle>
          <a:p xmlns:a="http://schemas.openxmlformats.org/drawingml/2006/main">
            <a:pPr>
              <a:defRPr sz="1350" b="0">
                <a:solidFill>
                  <a:srgbClr val="52665B"/>
                </a:solidFill>
                <a:latin typeface="Segoe UI"/>
                <a:ea typeface="Segoe UI"/>
                <a:cs typeface="Segoe UI"/>
              </a:defRPr>
            </a:pPr>
            <a:r>
              <a:rPr sz="1350" b="0">
                <a:solidFill>
                  <a:srgbClr val="52665B"/>
                </a:solidFill>
                <a:latin typeface="Segoe UI"/>
                <a:ea typeface="Segoe UI"/>
                <a:cs typeface="Segoe UI"/>
              </a:rPr>
              <a:t>07</a:t>
            </a:r>
          </a:p>
        </p:txBody>
      </p:sp>
    </p:spTree>
    <p:extLst>
      <p:ext uri="{BB962C8B-B14F-4D97-AF65-F5344CB8AC3E}">
        <p14:creationId xmlns:p14="http://schemas.microsoft.com/office/powerpoint/2010/main" val="1837242769"/>
      </p:ext>
    </p:extLst>
  </p:cSld>
</p:sld>
</file>

<file path=ppt/slides/slide8.xml><?xml version="1.0" encoding="utf-8"?>
<p:sld xmlns:p="http://schemas.openxmlformats.org/presentationml/2006/main">
  <p:cSld>
    <p:bg>
      <p:bgPr>
        <a:solidFill xmlns:a="http://schemas.openxmlformats.org/drawingml/2006/main">
          <a:srgbClr val="101D18"/>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72327249-DD3B-4506-B7B8-D03C9178E8C2}"/>
              </a:ext>
            </a:extLst>
          </p:cNvPr>
          <p:cNvSpPr>
            <a:spLocks xmlns:a="http://schemas.openxmlformats.org/drawingml/2006/main" noGrp="1"/>
          </p:cNvSpPr>
          <p:nvPr/>
        </p:nvSpPr>
        <p:spPr>
          <a:xfrm xmlns:a="http://schemas.openxmlformats.org/drawingml/2006/main">
            <a:off x="685800" y="66675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EDEFE8"/>
                </a:solidFill>
                <a:latin typeface="Segoe UI"/>
                <a:ea typeface="Segoe UI"/>
                <a:cs typeface="Segoe UI"/>
              </a:defRPr>
            </a:defPPr>
          </a:lstStyle>
          <a:p xmlns:a="http://schemas.openxmlformats.org/drawingml/2006/main">
            <a:pPr>
              <a:defRPr sz="5700" b="1">
                <a:solidFill>
                  <a:srgbClr val="EDEFE8"/>
                </a:solidFill>
                <a:latin typeface="Segoe UI"/>
                <a:ea typeface="Segoe UI"/>
                <a:cs typeface="Segoe UI"/>
              </a:defRPr>
            </a:pPr>
            <a:r>
              <a:rPr sz="5700" b="1">
                <a:solidFill>
                  <a:srgbClr val="EDEFE8"/>
                </a:solidFill>
                <a:latin typeface="Segoe UI"/>
                <a:ea typeface="Segoe UI"/>
                <a:cs typeface="Segoe UI"/>
              </a:rPr>
              <a:t>PlainSign</a:t>
            </a:r>
          </a:p>
        </p:txBody>
      </p:sp>
      <p:sp>
        <p:nvSpPr>
          <p:cNvPr id="2" name="close">
            <a:extLst xmlns:a="http://schemas.openxmlformats.org/drawingml/2006/main">
              <a:ext uri="{FF2B5EF4-FFF2-40B4-BE49-F238E27FC236}">
                <a16:creationId xmlns:a16="http://schemas.microsoft.com/office/drawing/2014/main" id="{467416CC-266A-492E-9D17-F5DB35C84D64}"/>
              </a:ext>
            </a:extLst>
          </p:cNvPr>
          <p:cNvSpPr>
            <a:spLocks xmlns:a="http://schemas.openxmlformats.org/drawingml/2006/main" noGrp="1"/>
          </p:cNvSpPr>
          <p:nvPr/>
        </p:nvSpPr>
        <p:spPr>
          <a:xfrm xmlns:a="http://schemas.openxmlformats.org/drawingml/2006/main">
            <a:off x="723900" y="21907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EDEFE8"/>
                </a:solidFill>
                <a:latin typeface="Segoe UI"/>
                <a:ea typeface="Segoe UI"/>
                <a:cs typeface="Segoe UI"/>
              </a:defRPr>
            </a:defPPr>
          </a:lstStyle>
          <a:p xmlns:a="http://schemas.openxmlformats.org/drawingml/2006/main">
            <a:pPr>
              <a:defRPr sz="4050" b="1">
                <a:solidFill>
                  <a:srgbClr val="EDEFE8"/>
                </a:solidFill>
                <a:latin typeface="Segoe UI"/>
                <a:ea typeface="Segoe UI"/>
                <a:cs typeface="Segoe UI"/>
              </a:defRPr>
            </a:pPr>
            <a:r>
              <a:rPr sz="4050" b="1">
                <a:solidFill>
                  <a:srgbClr val="EDEFE8"/>
                </a:solidFill>
                <a:latin typeface="Segoe UI"/>
                <a:ea typeface="Segoe UI"/>
                <a:cs typeface="Segoe UI"/>
              </a:rPr>
              <a:t>Understand the permission.</a:t>
            </a:r>
          </a:p>
          <a:p xmlns:a="http://schemas.openxmlformats.org/drawingml/2006/main">
            <a:pPr>
              <a:defRPr sz="4050" b="1">
                <a:solidFill>
                  <a:srgbClr val="EDEFE8"/>
                </a:solidFill>
                <a:latin typeface="Segoe UI"/>
                <a:ea typeface="Segoe UI"/>
                <a:cs typeface="Segoe UI"/>
              </a:defRPr>
            </a:pPr>
            <a:r>
              <a:rPr sz="4050" b="1">
                <a:solidFill>
                  <a:srgbClr val="EDEFE8"/>
                </a:solidFill>
                <a:latin typeface="Segoe UI"/>
                <a:ea typeface="Segoe UI"/>
                <a:cs typeface="Segoe UI"/>
              </a:rPr>
              <a:t>Then decide.</a:t>
            </a:r>
          </a:p>
        </p:txBody>
      </p:sp>
      <p:sp>
        <p:nvSpPr>
          <p:cNvPr id="3" name="try">
            <a:extLst xmlns:a="http://schemas.openxmlformats.org/drawingml/2006/main">
              <a:ext uri="{FF2B5EF4-FFF2-40B4-BE49-F238E27FC236}">
                <a16:creationId xmlns:a16="http://schemas.microsoft.com/office/drawing/2014/main" id="{B2C9E604-2576-4247-AB4F-B6B17E47E934}"/>
              </a:ext>
            </a:extLst>
          </p:cNvPr>
          <p:cNvSpPr>
            <a:spLocks xmlns:a="http://schemas.openxmlformats.org/drawingml/2006/main" noGrp="1"/>
          </p:cNvSpPr>
          <p:nvPr/>
        </p:nvSpPr>
        <p:spPr>
          <a:xfrm xmlns:a="http://schemas.openxmlformats.org/drawingml/2006/main">
            <a:off x="723900" y="417195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8FE0B2"/>
                </a:solidFill>
                <a:latin typeface="Segoe UI"/>
                <a:ea typeface="Segoe UI"/>
                <a:cs typeface="Segoe UI"/>
              </a:defRPr>
            </a:defPPr>
          </a:lstStyle>
          <a:p xmlns:a="http://schemas.openxmlformats.org/drawingml/2006/main">
            <a:pPr>
              <a:defRPr sz="2250" b="1">
                <a:solidFill>
                  <a:srgbClr val="8FE0B2"/>
                </a:solidFill>
                <a:latin typeface="Segoe UI"/>
                <a:ea typeface="Segoe UI"/>
                <a:cs typeface="Segoe UI"/>
              </a:defRPr>
            </a:pPr>
            <a:r>
              <a:rPr sz="2250" b="1">
                <a:solidFill>
                  <a:srgbClr val="8FE0B2"/>
                </a:solidFill>
                <a:latin typeface="Segoe UI"/>
                <a:ea typeface="Segoe UI"/>
                <a:cs typeface="Segoe UI"/>
              </a:rPr>
              <a:t>Try the sample requests without a wallet</a:t>
            </a:r>
          </a:p>
        </p:txBody>
      </p:sp>
      <p:sp>
        <p:nvSpPr>
          <p:cNvPr id="4" name="url">
            <a:extLst xmlns:a="http://schemas.openxmlformats.org/drawingml/2006/main">
              <a:ext uri="{FF2B5EF4-FFF2-40B4-BE49-F238E27FC236}">
                <a16:creationId xmlns:a16="http://schemas.microsoft.com/office/drawing/2014/main" id="{21556CA5-08B8-4D77-A9F4-E924D39ACA1B}"/>
              </a:ext>
            </a:extLst>
          </p:cNvPr>
          <p:cNvSpPr>
            <a:spLocks xmlns:a="http://schemas.openxmlformats.org/drawingml/2006/main" noGrp="1"/>
          </p:cNvSpPr>
          <p:nvPr/>
        </p:nvSpPr>
        <p:spPr>
          <a:xfrm xmlns:a="http://schemas.openxmlformats.org/drawingml/2006/main">
            <a:off x="723900" y="47339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EDEFE8"/>
                </a:solidFill>
                <a:latin typeface="Segoe UI"/>
                <a:ea typeface="Segoe UI"/>
                <a:cs typeface="Segoe UI"/>
              </a:defRPr>
            </a:defPPr>
          </a:lstStyle>
          <a:p xmlns:a="http://schemas.openxmlformats.org/drawingml/2006/main">
            <a:pPr>
              <a:defRPr sz="2250" b="0">
                <a:solidFill>
                  <a:srgbClr val="EDEFE8"/>
                </a:solidFill>
                <a:latin typeface="Segoe UI"/>
                <a:ea typeface="Segoe UI"/>
                <a:cs typeface="Segoe UI"/>
              </a:defRPr>
            </a:pPr>
            <a:r>
              <a:rPr sz="2250" b="0">
                <a:solidFill>
                  <a:srgbClr val="EDEFE8"/>
                </a:solidFill>
                <a:latin typeface="Segoe UI"/>
                <a:ea typeface="Segoe UI"/>
                <a:cs typeface="Segoe UI"/>
              </a:rPr>
              <a:t>adib-cyber007.github.io/plainsign/review.html</a:t>
            </a:r>
          </a:p>
        </p:txBody>
      </p:sp>
      <p:sp>
        <p:nvSpPr>
          <p:cNvPr id="5" name="entrant">
            <a:extLst xmlns:a="http://schemas.openxmlformats.org/drawingml/2006/main">
              <a:ext uri="{FF2B5EF4-FFF2-40B4-BE49-F238E27FC236}">
                <a16:creationId xmlns:a16="http://schemas.microsoft.com/office/drawing/2014/main" id="{5C2CBEDD-F535-449D-B820-CFE75A48B4A5}"/>
              </a:ext>
            </a:extLst>
          </p:cNvPr>
          <p:cNvSpPr>
            <a:spLocks xmlns:a="http://schemas.openxmlformats.org/drawingml/2006/main" noGrp="1"/>
          </p:cNvSpPr>
          <p:nvPr/>
        </p:nvSpPr>
        <p:spPr>
          <a:xfrm xmlns:a="http://schemas.openxmlformats.org/drawingml/2006/main">
            <a:off x="723900" y="57721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DEFE8"/>
                </a:solidFill>
                <a:latin typeface="Segoe UI"/>
                <a:ea typeface="Segoe UI"/>
                <a:cs typeface="Segoe UI"/>
              </a:defRPr>
            </a:defPPr>
          </a:lstStyle>
          <a:p xmlns:a="http://schemas.openxmlformats.org/drawingml/2006/main">
            <a:pPr>
              <a:defRPr sz="1875" b="0">
                <a:solidFill>
                  <a:srgbClr val="EDEFE8"/>
                </a:solidFill>
                <a:latin typeface="Segoe UI"/>
                <a:ea typeface="Segoe UI"/>
                <a:cs typeface="Segoe UI"/>
              </a:defRPr>
            </a:pPr>
            <a:r>
              <a:rPr sz="1875" b="0">
                <a:solidFill>
                  <a:srgbClr val="EDEFE8"/>
                </a:solidFill>
                <a:latin typeface="Segoe UI"/>
                <a:ea typeface="Segoe UI"/>
                <a:cs typeface="Segoe UI"/>
              </a:rPr>
              <a:t>Mohamed Adib · Solo entrant</a:t>
            </a:r>
          </a:p>
        </p:txBody>
      </p:sp>
      <p:sp>
        <p:nvSpPr>
          <p:cNvPr id="6" name="college">
            <a:extLst xmlns:a="http://schemas.openxmlformats.org/drawingml/2006/main">
              <a:ext uri="{FF2B5EF4-FFF2-40B4-BE49-F238E27FC236}">
                <a16:creationId xmlns:a16="http://schemas.microsoft.com/office/drawing/2014/main" id="{ABE13A8F-9E2F-4B1C-ADB7-787CB3646804}"/>
              </a:ext>
            </a:extLst>
          </p:cNvPr>
          <p:cNvSpPr>
            <a:spLocks xmlns:a="http://schemas.openxmlformats.org/drawingml/2006/main" noGrp="1"/>
          </p:cNvSpPr>
          <p:nvPr/>
        </p:nvSpPr>
        <p:spPr>
          <a:xfrm xmlns:a="http://schemas.openxmlformats.org/drawingml/2006/main">
            <a:off x="723900" y="61722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8FE0B2"/>
                </a:solidFill>
                <a:latin typeface="Segoe UI"/>
                <a:ea typeface="Segoe UI"/>
                <a:cs typeface="Segoe UI"/>
              </a:defRPr>
            </a:defPPr>
          </a:lstStyle>
          <a:p xmlns:a="http://schemas.openxmlformats.org/drawingml/2006/main">
            <a:pPr>
              <a:defRPr sz="1575" b="0">
                <a:solidFill>
                  <a:srgbClr val="8FE0B2"/>
                </a:solidFill>
                <a:latin typeface="Segoe UI"/>
                <a:ea typeface="Segoe UI"/>
                <a:cs typeface="Segoe UI"/>
              </a:defRPr>
            </a:pPr>
            <a:r>
              <a:rPr sz="1575" b="0">
                <a:solidFill>
                  <a:srgbClr val="8FE0B2"/>
                </a:solidFill>
                <a:latin typeface="Segoe UI"/>
                <a:ea typeface="Segoe UI"/>
                <a:cs typeface="Segoe UI"/>
              </a:rPr>
              <a:t>Sri Venkateswara College of Engineering</a:t>
            </a:r>
          </a:p>
        </p:txBody>
      </p:sp>
      <p:sp>
        <p:nvSpPr>
          <p:cNvPr id="7" name="slide-number">
            <a:extLst xmlns:a="http://schemas.openxmlformats.org/drawingml/2006/main">
              <a:ext uri="{FF2B5EF4-FFF2-40B4-BE49-F238E27FC236}">
                <a16:creationId xmlns:a16="http://schemas.microsoft.com/office/drawing/2014/main" id="{F3140546-F60E-4B4F-A1D8-D81F823F722E}"/>
              </a:ext>
            </a:extLst>
          </p:cNvPr>
          <p:cNvSpPr>
            <a:spLocks xmlns:a="http://schemas.openxmlformats.org/drawingml/2006/main" noGrp="1"/>
          </p:cNvSpPr>
          <p:nvPr/>
        </p:nvSpPr>
        <p:spPr>
          <a:xfrm xmlns:a="http://schemas.openxmlformats.org/drawingml/2006/main">
            <a:off x="11144250" y="6362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8FE0B2"/>
                </a:solidFill>
                <a:latin typeface="Segoe UI"/>
                <a:ea typeface="Segoe UI"/>
                <a:cs typeface="Segoe UI"/>
              </a:defRPr>
            </a:defPPr>
          </a:lstStyle>
          <a:p xmlns:a="http://schemas.openxmlformats.org/drawingml/2006/main">
            <a:pPr>
              <a:defRPr sz="1350" b="0">
                <a:solidFill>
                  <a:srgbClr val="8FE0B2"/>
                </a:solidFill>
                <a:latin typeface="Segoe UI"/>
                <a:ea typeface="Segoe UI"/>
                <a:cs typeface="Segoe UI"/>
              </a:defRPr>
            </a:pPr>
            <a:r>
              <a:rPr sz="1350" b="0">
                <a:solidFill>
                  <a:srgbClr val="8FE0B2"/>
                </a:solidFill>
                <a:latin typeface="Segoe UI"/>
                <a:ea typeface="Segoe UI"/>
                <a:cs typeface="Segoe UI"/>
              </a:rPr>
              <a:t>08</a:t>
            </a:r>
          </a:p>
        </p:txBody>
      </p:sp>
    </p:spTree>
    <p:extLst>
      <p:ext uri="{BB962C8B-B14F-4D97-AF65-F5344CB8AC3E}">
        <p14:creationId xmlns:p14="http://schemas.microsoft.com/office/powerpoint/2010/main" val="17586082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2026-10-12T08:15:34.5500000Z</dcterms:created>
  <dcterms:modified xsi:type="dcterms:W3CDTF">2026-10-12T08:15:34.5500000Z</dcterms:modified>
</coreProperties>
</file>